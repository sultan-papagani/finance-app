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Darker Grotesque Heavy" panose="020B0604020202020204" charset="0"/>
      <p:regular r:id="rId3"/>
    </p:embeddedFont>
    <p:embeddedFont>
      <p:font typeface="Darker Grotesque Medium" panose="020B0604020202020204" charset="0"/>
      <p:regular r:id="rId4"/>
    </p:embeddedFont>
    <p:embeddedFont>
      <p:font typeface="Darker Grotesque Semi-Bold" panose="020B0604020202020204" charset="0"/>
      <p:regular r:id="rId5"/>
    </p:embeddedFont>
    <p:embeddedFont>
      <p:font typeface="Darker Grotesque Ultra-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321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"/>
            <a:ext cx="15113000" cy="2626699"/>
            <a:chOff x="0" y="0"/>
            <a:chExt cx="2934601" cy="549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4601" cy="549936"/>
            </a:xfrm>
            <a:custGeom>
              <a:avLst/>
              <a:gdLst/>
              <a:ahLst/>
              <a:cxnLst/>
              <a:rect l="l" t="t" r="r" b="b"/>
              <a:pathLst>
                <a:path w="2934601" h="549936">
                  <a:moveTo>
                    <a:pt x="0" y="0"/>
                  </a:moveTo>
                  <a:lnTo>
                    <a:pt x="2934601" y="0"/>
                  </a:lnTo>
                  <a:lnTo>
                    <a:pt x="2934601" y="549936"/>
                  </a:lnTo>
                  <a:lnTo>
                    <a:pt x="0" y="549936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34601" cy="616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500" y="-208073"/>
            <a:ext cx="15113000" cy="2848638"/>
          </a:xfrm>
          <a:custGeom>
            <a:avLst/>
            <a:gdLst/>
            <a:ahLst/>
            <a:cxnLst/>
            <a:rect l="l" t="t" r="r" b="b"/>
            <a:pathLst>
              <a:path w="16634380" h="2848638">
                <a:moveTo>
                  <a:pt x="0" y="0"/>
                </a:moveTo>
                <a:lnTo>
                  <a:pt x="16634380" y="0"/>
                </a:lnTo>
                <a:lnTo>
                  <a:pt x="16634380" y="2848637"/>
                </a:lnTo>
                <a:lnTo>
                  <a:pt x="0" y="2848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241" r="-5827"/>
            </a:stretch>
          </a:blipFill>
        </p:spPr>
        <p:txBody>
          <a:bodyPr/>
          <a:lstStyle/>
          <a:p>
            <a:endParaRPr lang="tr-TR" dirty="0"/>
          </a:p>
        </p:txBody>
      </p:sp>
      <p:sp>
        <p:nvSpPr>
          <p:cNvPr id="6" name="AutoShape 6"/>
          <p:cNvSpPr/>
          <p:nvPr/>
        </p:nvSpPr>
        <p:spPr>
          <a:xfrm>
            <a:off x="9994900" y="779897"/>
            <a:ext cx="0" cy="34442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 dirty="0"/>
          </a:p>
        </p:txBody>
      </p:sp>
      <p:grpSp>
        <p:nvGrpSpPr>
          <p:cNvPr id="7" name="Group 7"/>
          <p:cNvGrpSpPr/>
          <p:nvPr/>
        </p:nvGrpSpPr>
        <p:grpSpPr>
          <a:xfrm>
            <a:off x="1512000" y="10630593"/>
            <a:ext cx="6650201" cy="4923863"/>
            <a:chOff x="0" y="0"/>
            <a:chExt cx="1191641" cy="8823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1641" cy="882301"/>
            </a:xfrm>
            <a:custGeom>
              <a:avLst/>
              <a:gdLst/>
              <a:ahLst/>
              <a:cxnLst/>
              <a:rect l="l" t="t" r="r" b="b"/>
              <a:pathLst>
                <a:path w="1191641" h="882301">
                  <a:moveTo>
                    <a:pt x="64029" y="0"/>
                  </a:moveTo>
                  <a:lnTo>
                    <a:pt x="1127612" y="0"/>
                  </a:lnTo>
                  <a:cubicBezTo>
                    <a:pt x="1144594" y="0"/>
                    <a:pt x="1160880" y="6746"/>
                    <a:pt x="1172887" y="18754"/>
                  </a:cubicBezTo>
                  <a:cubicBezTo>
                    <a:pt x="1184895" y="30761"/>
                    <a:pt x="1191641" y="47047"/>
                    <a:pt x="1191641" y="64029"/>
                  </a:cubicBezTo>
                  <a:lnTo>
                    <a:pt x="1191641" y="818272"/>
                  </a:lnTo>
                  <a:cubicBezTo>
                    <a:pt x="1191641" y="835253"/>
                    <a:pt x="1184895" y="851539"/>
                    <a:pt x="1172887" y="863547"/>
                  </a:cubicBezTo>
                  <a:cubicBezTo>
                    <a:pt x="1160880" y="875555"/>
                    <a:pt x="1144594" y="882301"/>
                    <a:pt x="1127612" y="882301"/>
                  </a:cubicBezTo>
                  <a:lnTo>
                    <a:pt x="64029" y="882301"/>
                  </a:lnTo>
                  <a:cubicBezTo>
                    <a:pt x="47047" y="882301"/>
                    <a:pt x="30761" y="875555"/>
                    <a:pt x="18754" y="863547"/>
                  </a:cubicBezTo>
                  <a:cubicBezTo>
                    <a:pt x="6746" y="851539"/>
                    <a:pt x="0" y="835253"/>
                    <a:pt x="0" y="818272"/>
                  </a:cubicBezTo>
                  <a:lnTo>
                    <a:pt x="0" y="64029"/>
                  </a:lnTo>
                  <a:cubicBezTo>
                    <a:pt x="0" y="47047"/>
                    <a:pt x="6746" y="30761"/>
                    <a:pt x="18754" y="18754"/>
                  </a:cubicBezTo>
                  <a:cubicBezTo>
                    <a:pt x="30761" y="6746"/>
                    <a:pt x="47047" y="0"/>
                    <a:pt x="64029" y="0"/>
                  </a:cubicBezTo>
                  <a:close/>
                </a:path>
              </a:pathLst>
            </a:custGeom>
            <a:solidFill>
              <a:srgbClr val="FFFFFF"/>
            </a:solidFill>
            <a:ln w="23812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91641" cy="948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73784" y="10630593"/>
            <a:ext cx="5234216" cy="4923863"/>
            <a:chOff x="0" y="0"/>
            <a:chExt cx="937912" cy="8823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7912" cy="882301"/>
            </a:xfrm>
            <a:custGeom>
              <a:avLst/>
              <a:gdLst/>
              <a:ahLst/>
              <a:cxnLst/>
              <a:rect l="l" t="t" r="r" b="b"/>
              <a:pathLst>
                <a:path w="937912" h="882301">
                  <a:moveTo>
                    <a:pt x="81350" y="0"/>
                  </a:moveTo>
                  <a:lnTo>
                    <a:pt x="856562" y="0"/>
                  </a:lnTo>
                  <a:cubicBezTo>
                    <a:pt x="878137" y="0"/>
                    <a:pt x="898829" y="8571"/>
                    <a:pt x="914085" y="23827"/>
                  </a:cubicBezTo>
                  <a:cubicBezTo>
                    <a:pt x="929342" y="39083"/>
                    <a:pt x="937912" y="59775"/>
                    <a:pt x="937912" y="81350"/>
                  </a:cubicBezTo>
                  <a:lnTo>
                    <a:pt x="937912" y="800950"/>
                  </a:lnTo>
                  <a:cubicBezTo>
                    <a:pt x="937912" y="845879"/>
                    <a:pt x="901491" y="882301"/>
                    <a:pt x="856562" y="882301"/>
                  </a:cubicBezTo>
                  <a:lnTo>
                    <a:pt x="81350" y="882301"/>
                  </a:lnTo>
                  <a:cubicBezTo>
                    <a:pt x="36422" y="882301"/>
                    <a:pt x="0" y="845879"/>
                    <a:pt x="0" y="800950"/>
                  </a:cubicBezTo>
                  <a:lnTo>
                    <a:pt x="0" y="81350"/>
                  </a:lnTo>
                  <a:cubicBezTo>
                    <a:pt x="0" y="36422"/>
                    <a:pt x="36422" y="0"/>
                    <a:pt x="81350" y="0"/>
                  </a:cubicBezTo>
                  <a:close/>
                </a:path>
              </a:pathLst>
            </a:custGeom>
            <a:solidFill>
              <a:srgbClr val="FFFFFF"/>
            </a:solidFill>
            <a:ln w="23812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937912" cy="948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16286698"/>
            <a:ext cx="15113000" cy="5066673"/>
          </a:xfrm>
          <a:custGeom>
            <a:avLst/>
            <a:gdLst/>
            <a:ahLst/>
            <a:cxnLst/>
            <a:rect l="l" t="t" r="r" b="b"/>
            <a:pathLst>
              <a:path w="16080254" h="7376816">
                <a:moveTo>
                  <a:pt x="0" y="0"/>
                </a:moveTo>
                <a:lnTo>
                  <a:pt x="16080254" y="0"/>
                </a:lnTo>
                <a:lnTo>
                  <a:pt x="16080254" y="7376816"/>
                </a:lnTo>
                <a:lnTo>
                  <a:pt x="0" y="7376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77" t="-1" r="-3223" b="-45594"/>
            </a:stretch>
          </a:blipFill>
        </p:spPr>
        <p:txBody>
          <a:bodyPr/>
          <a:lstStyle/>
          <a:p>
            <a:endParaRPr lang="tr-TR" dirty="0"/>
          </a:p>
        </p:txBody>
      </p:sp>
      <p:grpSp>
        <p:nvGrpSpPr>
          <p:cNvPr id="14" name="Group 14"/>
          <p:cNvGrpSpPr/>
          <p:nvPr/>
        </p:nvGrpSpPr>
        <p:grpSpPr>
          <a:xfrm>
            <a:off x="1512000" y="15830681"/>
            <a:ext cx="12096000" cy="5150596"/>
            <a:chOff x="0" y="0"/>
            <a:chExt cx="2167467" cy="9229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67467" cy="922929"/>
            </a:xfrm>
            <a:custGeom>
              <a:avLst/>
              <a:gdLst/>
              <a:ahLst/>
              <a:cxnLst/>
              <a:rect l="l" t="t" r="r" b="b"/>
              <a:pathLst>
                <a:path w="2167467" h="922929">
                  <a:moveTo>
                    <a:pt x="35202" y="0"/>
                  </a:moveTo>
                  <a:lnTo>
                    <a:pt x="2132265" y="0"/>
                  </a:lnTo>
                  <a:cubicBezTo>
                    <a:pt x="2151706" y="0"/>
                    <a:pt x="2167467" y="15761"/>
                    <a:pt x="2167467" y="35202"/>
                  </a:cubicBezTo>
                  <a:lnTo>
                    <a:pt x="2167467" y="887726"/>
                  </a:lnTo>
                  <a:cubicBezTo>
                    <a:pt x="2167467" y="907168"/>
                    <a:pt x="2151706" y="922929"/>
                    <a:pt x="2132265" y="922929"/>
                  </a:cubicBezTo>
                  <a:lnTo>
                    <a:pt x="35202" y="922929"/>
                  </a:lnTo>
                  <a:cubicBezTo>
                    <a:pt x="15761" y="922929"/>
                    <a:pt x="0" y="907168"/>
                    <a:pt x="0" y="887726"/>
                  </a:cubicBezTo>
                  <a:lnTo>
                    <a:pt x="0" y="35202"/>
                  </a:lnTo>
                  <a:cubicBezTo>
                    <a:pt x="0" y="15761"/>
                    <a:pt x="15761" y="0"/>
                    <a:pt x="35202" y="0"/>
                  </a:cubicBezTo>
                  <a:close/>
                </a:path>
              </a:pathLst>
            </a:custGeom>
            <a:solidFill>
              <a:srgbClr val="FFFFFF"/>
            </a:solidFill>
            <a:ln w="23812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167467" cy="989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28031" y="10173013"/>
            <a:ext cx="4325722" cy="915159"/>
            <a:chOff x="0" y="0"/>
            <a:chExt cx="775121" cy="1639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75121" cy="163986"/>
            </a:xfrm>
            <a:custGeom>
              <a:avLst/>
              <a:gdLst/>
              <a:ahLst/>
              <a:cxnLst/>
              <a:rect l="l" t="t" r="r" b="b"/>
              <a:pathLst>
                <a:path w="775121" h="163986">
                  <a:moveTo>
                    <a:pt x="48323" y="0"/>
                  </a:moveTo>
                  <a:lnTo>
                    <a:pt x="726798" y="0"/>
                  </a:lnTo>
                  <a:cubicBezTo>
                    <a:pt x="739614" y="0"/>
                    <a:pt x="751905" y="5091"/>
                    <a:pt x="760967" y="14153"/>
                  </a:cubicBezTo>
                  <a:cubicBezTo>
                    <a:pt x="770029" y="23216"/>
                    <a:pt x="775121" y="35507"/>
                    <a:pt x="775121" y="48323"/>
                  </a:cubicBezTo>
                  <a:lnTo>
                    <a:pt x="775121" y="115663"/>
                  </a:lnTo>
                  <a:cubicBezTo>
                    <a:pt x="775121" y="128479"/>
                    <a:pt x="770029" y="140770"/>
                    <a:pt x="760967" y="149833"/>
                  </a:cubicBezTo>
                  <a:cubicBezTo>
                    <a:pt x="751905" y="158895"/>
                    <a:pt x="739614" y="163986"/>
                    <a:pt x="726798" y="163986"/>
                  </a:cubicBezTo>
                  <a:lnTo>
                    <a:pt x="48323" y="163986"/>
                  </a:lnTo>
                  <a:cubicBezTo>
                    <a:pt x="35507" y="163986"/>
                    <a:pt x="23216" y="158895"/>
                    <a:pt x="14153" y="149833"/>
                  </a:cubicBezTo>
                  <a:cubicBezTo>
                    <a:pt x="5091" y="140770"/>
                    <a:pt x="0" y="128479"/>
                    <a:pt x="0" y="115663"/>
                  </a:cubicBezTo>
                  <a:lnTo>
                    <a:pt x="0" y="48323"/>
                  </a:lnTo>
                  <a:cubicBezTo>
                    <a:pt x="0" y="35507"/>
                    <a:pt x="5091" y="23216"/>
                    <a:pt x="14153" y="14153"/>
                  </a:cubicBezTo>
                  <a:cubicBezTo>
                    <a:pt x="23216" y="5091"/>
                    <a:pt x="35507" y="0"/>
                    <a:pt x="48323" y="0"/>
                  </a:cubicBezTo>
                  <a:close/>
                </a:path>
              </a:pathLst>
            </a:custGeom>
            <a:solidFill>
              <a:srgbClr val="83C5BE"/>
            </a:solidFill>
            <a:ln w="19050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775121" cy="23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74240" y="10173013"/>
            <a:ext cx="4325722" cy="915159"/>
            <a:chOff x="0" y="0"/>
            <a:chExt cx="775121" cy="1639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75121" cy="163986"/>
            </a:xfrm>
            <a:custGeom>
              <a:avLst/>
              <a:gdLst/>
              <a:ahLst/>
              <a:cxnLst/>
              <a:rect l="l" t="t" r="r" b="b"/>
              <a:pathLst>
                <a:path w="775121" h="163986">
                  <a:moveTo>
                    <a:pt x="48323" y="0"/>
                  </a:moveTo>
                  <a:lnTo>
                    <a:pt x="726798" y="0"/>
                  </a:lnTo>
                  <a:cubicBezTo>
                    <a:pt x="739614" y="0"/>
                    <a:pt x="751905" y="5091"/>
                    <a:pt x="760967" y="14153"/>
                  </a:cubicBezTo>
                  <a:cubicBezTo>
                    <a:pt x="770029" y="23216"/>
                    <a:pt x="775121" y="35507"/>
                    <a:pt x="775121" y="48323"/>
                  </a:cubicBezTo>
                  <a:lnTo>
                    <a:pt x="775121" y="115663"/>
                  </a:lnTo>
                  <a:cubicBezTo>
                    <a:pt x="775121" y="128479"/>
                    <a:pt x="770029" y="140770"/>
                    <a:pt x="760967" y="149833"/>
                  </a:cubicBezTo>
                  <a:cubicBezTo>
                    <a:pt x="751905" y="158895"/>
                    <a:pt x="739614" y="163986"/>
                    <a:pt x="726798" y="163986"/>
                  </a:cubicBezTo>
                  <a:lnTo>
                    <a:pt x="48323" y="163986"/>
                  </a:lnTo>
                  <a:cubicBezTo>
                    <a:pt x="35507" y="163986"/>
                    <a:pt x="23216" y="158895"/>
                    <a:pt x="14153" y="149833"/>
                  </a:cubicBezTo>
                  <a:cubicBezTo>
                    <a:pt x="5091" y="140770"/>
                    <a:pt x="0" y="128479"/>
                    <a:pt x="0" y="115663"/>
                  </a:cubicBezTo>
                  <a:lnTo>
                    <a:pt x="0" y="48323"/>
                  </a:lnTo>
                  <a:cubicBezTo>
                    <a:pt x="0" y="35507"/>
                    <a:pt x="5091" y="23216"/>
                    <a:pt x="14153" y="14153"/>
                  </a:cubicBezTo>
                  <a:cubicBezTo>
                    <a:pt x="23216" y="5091"/>
                    <a:pt x="35507" y="0"/>
                    <a:pt x="48323" y="0"/>
                  </a:cubicBezTo>
                  <a:close/>
                </a:path>
              </a:pathLst>
            </a:custGeom>
            <a:solidFill>
              <a:srgbClr val="83C5BE"/>
            </a:solidFill>
            <a:ln w="19050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775121" cy="23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12000" y="3470242"/>
            <a:ext cx="12096000" cy="2847421"/>
            <a:chOff x="0" y="0"/>
            <a:chExt cx="2167467" cy="5102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67467" cy="510226"/>
            </a:xfrm>
            <a:custGeom>
              <a:avLst/>
              <a:gdLst/>
              <a:ahLst/>
              <a:cxnLst/>
              <a:rect l="l" t="t" r="r" b="b"/>
              <a:pathLst>
                <a:path w="2167467" h="510226">
                  <a:moveTo>
                    <a:pt x="19201" y="0"/>
                  </a:moveTo>
                  <a:lnTo>
                    <a:pt x="2148266" y="0"/>
                  </a:lnTo>
                  <a:cubicBezTo>
                    <a:pt x="2158870" y="0"/>
                    <a:pt x="2167467" y="8597"/>
                    <a:pt x="2167467" y="19201"/>
                  </a:cubicBezTo>
                  <a:lnTo>
                    <a:pt x="2167467" y="491025"/>
                  </a:lnTo>
                  <a:cubicBezTo>
                    <a:pt x="2167467" y="496117"/>
                    <a:pt x="2165444" y="501001"/>
                    <a:pt x="2161843" y="504602"/>
                  </a:cubicBezTo>
                  <a:cubicBezTo>
                    <a:pt x="2158242" y="508203"/>
                    <a:pt x="2153358" y="510226"/>
                    <a:pt x="2148266" y="510226"/>
                  </a:cubicBezTo>
                  <a:lnTo>
                    <a:pt x="19201" y="510226"/>
                  </a:lnTo>
                  <a:cubicBezTo>
                    <a:pt x="14109" y="510226"/>
                    <a:pt x="9225" y="508203"/>
                    <a:pt x="5624" y="504602"/>
                  </a:cubicBezTo>
                  <a:cubicBezTo>
                    <a:pt x="2023" y="501001"/>
                    <a:pt x="0" y="496117"/>
                    <a:pt x="0" y="491025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FFFFF"/>
            </a:solidFill>
            <a:ln w="23812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2167467" cy="576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27155" y="3012662"/>
            <a:ext cx="4465691" cy="915159"/>
            <a:chOff x="0" y="0"/>
            <a:chExt cx="800201" cy="16398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00201" cy="163986"/>
            </a:xfrm>
            <a:custGeom>
              <a:avLst/>
              <a:gdLst/>
              <a:ahLst/>
              <a:cxnLst/>
              <a:rect l="l" t="t" r="r" b="b"/>
              <a:pathLst>
                <a:path w="800201" h="163986">
                  <a:moveTo>
                    <a:pt x="46808" y="0"/>
                  </a:moveTo>
                  <a:lnTo>
                    <a:pt x="753393" y="0"/>
                  </a:lnTo>
                  <a:cubicBezTo>
                    <a:pt x="765807" y="0"/>
                    <a:pt x="777713" y="4932"/>
                    <a:pt x="786491" y="13710"/>
                  </a:cubicBezTo>
                  <a:cubicBezTo>
                    <a:pt x="795270" y="22488"/>
                    <a:pt x="800201" y="34394"/>
                    <a:pt x="800201" y="46808"/>
                  </a:cubicBezTo>
                  <a:lnTo>
                    <a:pt x="800201" y="117178"/>
                  </a:lnTo>
                  <a:cubicBezTo>
                    <a:pt x="800201" y="143029"/>
                    <a:pt x="779245" y="163986"/>
                    <a:pt x="753393" y="163986"/>
                  </a:cubicBezTo>
                  <a:lnTo>
                    <a:pt x="46808" y="163986"/>
                  </a:lnTo>
                  <a:cubicBezTo>
                    <a:pt x="20957" y="163986"/>
                    <a:pt x="0" y="143029"/>
                    <a:pt x="0" y="117178"/>
                  </a:cubicBezTo>
                  <a:lnTo>
                    <a:pt x="0" y="46808"/>
                  </a:lnTo>
                  <a:cubicBezTo>
                    <a:pt x="0" y="20957"/>
                    <a:pt x="20957" y="0"/>
                    <a:pt x="46808" y="0"/>
                  </a:cubicBezTo>
                  <a:close/>
                </a:path>
              </a:pathLst>
            </a:custGeom>
            <a:solidFill>
              <a:srgbClr val="83C5BE"/>
            </a:solidFill>
            <a:ln w="19050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800201" cy="23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12000" y="7049367"/>
            <a:ext cx="12096000" cy="2847421"/>
            <a:chOff x="0" y="0"/>
            <a:chExt cx="2167467" cy="5102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67467" cy="510226"/>
            </a:xfrm>
            <a:custGeom>
              <a:avLst/>
              <a:gdLst/>
              <a:ahLst/>
              <a:cxnLst/>
              <a:rect l="l" t="t" r="r" b="b"/>
              <a:pathLst>
                <a:path w="2167467" h="510226">
                  <a:moveTo>
                    <a:pt x="19201" y="0"/>
                  </a:moveTo>
                  <a:lnTo>
                    <a:pt x="2148266" y="0"/>
                  </a:lnTo>
                  <a:cubicBezTo>
                    <a:pt x="2158870" y="0"/>
                    <a:pt x="2167467" y="8597"/>
                    <a:pt x="2167467" y="19201"/>
                  </a:cubicBezTo>
                  <a:lnTo>
                    <a:pt x="2167467" y="491025"/>
                  </a:lnTo>
                  <a:cubicBezTo>
                    <a:pt x="2167467" y="496117"/>
                    <a:pt x="2165444" y="501001"/>
                    <a:pt x="2161843" y="504602"/>
                  </a:cubicBezTo>
                  <a:cubicBezTo>
                    <a:pt x="2158242" y="508203"/>
                    <a:pt x="2153358" y="510226"/>
                    <a:pt x="2148266" y="510226"/>
                  </a:cubicBezTo>
                  <a:lnTo>
                    <a:pt x="19201" y="510226"/>
                  </a:lnTo>
                  <a:cubicBezTo>
                    <a:pt x="14109" y="510226"/>
                    <a:pt x="9225" y="508203"/>
                    <a:pt x="5624" y="504602"/>
                  </a:cubicBezTo>
                  <a:cubicBezTo>
                    <a:pt x="2023" y="501001"/>
                    <a:pt x="0" y="496117"/>
                    <a:pt x="0" y="491025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FFFFF"/>
            </a:solidFill>
            <a:ln w="23812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2167467" cy="576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27155" y="6591788"/>
            <a:ext cx="4465691" cy="915159"/>
            <a:chOff x="0" y="0"/>
            <a:chExt cx="800201" cy="16398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00201" cy="163986"/>
            </a:xfrm>
            <a:custGeom>
              <a:avLst/>
              <a:gdLst/>
              <a:ahLst/>
              <a:cxnLst/>
              <a:rect l="l" t="t" r="r" b="b"/>
              <a:pathLst>
                <a:path w="800201" h="163986">
                  <a:moveTo>
                    <a:pt x="46808" y="0"/>
                  </a:moveTo>
                  <a:lnTo>
                    <a:pt x="753393" y="0"/>
                  </a:lnTo>
                  <a:cubicBezTo>
                    <a:pt x="765807" y="0"/>
                    <a:pt x="777713" y="4932"/>
                    <a:pt x="786491" y="13710"/>
                  </a:cubicBezTo>
                  <a:cubicBezTo>
                    <a:pt x="795270" y="22488"/>
                    <a:pt x="800201" y="34394"/>
                    <a:pt x="800201" y="46808"/>
                  </a:cubicBezTo>
                  <a:lnTo>
                    <a:pt x="800201" y="117178"/>
                  </a:lnTo>
                  <a:cubicBezTo>
                    <a:pt x="800201" y="143029"/>
                    <a:pt x="779245" y="163986"/>
                    <a:pt x="753393" y="163986"/>
                  </a:cubicBezTo>
                  <a:lnTo>
                    <a:pt x="46808" y="163986"/>
                  </a:lnTo>
                  <a:cubicBezTo>
                    <a:pt x="20957" y="163986"/>
                    <a:pt x="0" y="143029"/>
                    <a:pt x="0" y="117178"/>
                  </a:cubicBezTo>
                  <a:lnTo>
                    <a:pt x="0" y="46808"/>
                  </a:lnTo>
                  <a:cubicBezTo>
                    <a:pt x="0" y="20957"/>
                    <a:pt x="20957" y="0"/>
                    <a:pt x="46808" y="0"/>
                  </a:cubicBezTo>
                  <a:close/>
                </a:path>
              </a:pathLst>
            </a:custGeom>
            <a:solidFill>
              <a:srgbClr val="83C5BE"/>
            </a:solidFill>
            <a:ln w="19050" cap="rnd">
              <a:solidFill>
                <a:srgbClr val="0C4449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800201" cy="2306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01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0" y="581542"/>
            <a:ext cx="1553944" cy="1384953"/>
          </a:xfrm>
          <a:custGeom>
            <a:avLst/>
            <a:gdLst/>
            <a:ahLst/>
            <a:cxnLst/>
            <a:rect l="l" t="t" r="r" b="b"/>
            <a:pathLst>
              <a:path w="1553944" h="1384953">
                <a:moveTo>
                  <a:pt x="0" y="0"/>
                </a:moveTo>
                <a:lnTo>
                  <a:pt x="1553944" y="0"/>
                </a:lnTo>
                <a:lnTo>
                  <a:pt x="1553944" y="1384953"/>
                </a:lnTo>
                <a:lnTo>
                  <a:pt x="0" y="1384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7" name="TextBox 37"/>
          <p:cNvSpPr txBox="1"/>
          <p:nvPr/>
        </p:nvSpPr>
        <p:spPr>
          <a:xfrm>
            <a:off x="10319658" y="1585567"/>
            <a:ext cx="4820066" cy="763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Bilişim</a:t>
            </a:r>
            <a:r>
              <a:rPr lang="en-US" sz="2000" b="1" dirty="0">
                <a:solidFill>
                  <a:schemeClr val="bg1"/>
                </a:solidFill>
                <a:sym typeface="Darker Grotesque Medium"/>
              </a:rPr>
              <a:t> </a:t>
            </a:r>
            <a:r>
              <a:rPr lang="tr-TR" sz="2000" b="1" dirty="0">
                <a:solidFill>
                  <a:schemeClr val="bg1"/>
                </a:solidFill>
                <a:sym typeface="Darker Grotesque Medium"/>
              </a:rPr>
              <a:t>Tek</a:t>
            </a: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nolojileri</a:t>
            </a:r>
            <a:r>
              <a:rPr lang="en-US" sz="2000" b="1" dirty="0">
                <a:solidFill>
                  <a:schemeClr val="bg1"/>
                </a:solidFill>
                <a:sym typeface="Darker Grotesque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Meslek</a:t>
            </a:r>
            <a:r>
              <a:rPr lang="en-US" sz="2000" b="1" dirty="0">
                <a:solidFill>
                  <a:schemeClr val="bg1"/>
                </a:solidFill>
                <a:sym typeface="Darker Grotesque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Yüksekokulu</a:t>
            </a:r>
            <a:endParaRPr lang="en-US" sz="2000" b="1" dirty="0">
              <a:solidFill>
                <a:schemeClr val="bg1"/>
              </a:solidFill>
              <a:sym typeface="Darker Grotesque Medium"/>
            </a:endParaRPr>
          </a:p>
          <a:p>
            <a:pPr algn="l">
              <a:lnSpc>
                <a:spcPts val="3099"/>
              </a:lnSpc>
            </a:pP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Ön</a:t>
            </a:r>
            <a:r>
              <a:rPr lang="en-US" sz="2000" b="1" dirty="0">
                <a:solidFill>
                  <a:schemeClr val="bg1"/>
                </a:solidFill>
                <a:sym typeface="Darker Grotesque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Yüz</a:t>
            </a:r>
            <a:r>
              <a:rPr lang="en-US" sz="2000" b="1" dirty="0">
                <a:solidFill>
                  <a:schemeClr val="bg1"/>
                </a:solidFill>
                <a:sym typeface="Darker Grotesque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Yazılım</a:t>
            </a:r>
            <a:r>
              <a:rPr lang="en-US" sz="2000" b="1" dirty="0">
                <a:solidFill>
                  <a:schemeClr val="bg1"/>
                </a:solidFill>
                <a:sym typeface="Darker Grotesque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sym typeface="Darker Grotesque Medium"/>
              </a:rPr>
              <a:t>Geliştirme</a:t>
            </a:r>
            <a:endParaRPr lang="en-US" sz="2000" b="1" dirty="0">
              <a:solidFill>
                <a:schemeClr val="bg1"/>
              </a:solidFill>
              <a:sym typeface="Darker Grotesque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610508" y="415841"/>
            <a:ext cx="6142098" cy="16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9"/>
              </a:lnSpc>
            </a:pPr>
            <a:r>
              <a:rPr lang="tr-TR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While</a:t>
            </a:r>
            <a:r>
              <a:rPr lang="tr-TR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tr-TR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Wallet</a:t>
            </a:r>
            <a:r>
              <a:rPr lang="tr-TR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en-US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Kişisel</a:t>
            </a:r>
            <a:r>
              <a:rPr lang="en-US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en-US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Bütçe</a:t>
            </a:r>
            <a:r>
              <a:rPr lang="en-US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en-US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ve</a:t>
            </a:r>
            <a:r>
              <a:rPr lang="en-US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en-US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Yatırım</a:t>
            </a:r>
            <a:r>
              <a:rPr lang="en-US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en-US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Takip</a:t>
            </a:r>
            <a:r>
              <a:rPr lang="en-US" sz="3600" b="1" spc="-334" dirty="0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 </a:t>
            </a:r>
            <a:r>
              <a:rPr lang="en-US" sz="3600" b="1" spc="-334" dirty="0" err="1">
                <a:solidFill>
                  <a:srgbClr val="FEFFFA"/>
                </a:solidFill>
                <a:latin typeface="Arial" panose="020B0604020202020204" pitchFamily="34" charset="0"/>
                <a:ea typeface="Code Pro Bold"/>
                <a:cs typeface="Arial" panose="020B0604020202020204" pitchFamily="34" charset="0"/>
                <a:sym typeface="Code Pro Bold"/>
              </a:rPr>
              <a:t>Platformu</a:t>
            </a:r>
            <a:endParaRPr lang="en-US" sz="3600" b="1" spc="-334" dirty="0">
              <a:solidFill>
                <a:srgbClr val="FEFFFA"/>
              </a:solidFill>
              <a:latin typeface="Arial" panose="020B0604020202020204" pitchFamily="34" charset="0"/>
              <a:ea typeface="Code Pro Bold"/>
              <a:cs typeface="Arial" panose="020B0604020202020204" pitchFamily="34" charset="0"/>
              <a:sym typeface="Code Pro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590822" y="786830"/>
            <a:ext cx="2787104" cy="36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703" b="1" spc="-10" dirty="0">
                <a:solidFill>
                  <a:srgbClr val="FEFFFA"/>
                </a:solidFill>
                <a:latin typeface="Darker Grotesque Ultra-Bold"/>
                <a:ea typeface="Darker Grotesque Ultra-Bold"/>
                <a:cs typeface="Darker Grotesque Ultra-Bold"/>
                <a:sym typeface="Darker Grotesque Ultra-Bold"/>
              </a:rPr>
              <a:t>ÖĞRENCI ADI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19658" y="779897"/>
            <a:ext cx="2547502" cy="36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703" b="1" spc="-10" dirty="0">
                <a:solidFill>
                  <a:srgbClr val="FEFFFA"/>
                </a:solidFill>
                <a:latin typeface="Darker Grotesque Ultra-Bold"/>
                <a:ea typeface="Darker Grotesque Ultra-Bold"/>
                <a:cs typeface="Darker Grotesque Ultra-Bold"/>
                <a:sym typeface="Darker Grotesque Ultra-Bold"/>
              </a:rPr>
              <a:t>DANIŞMAN ADI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94382" y="12426294"/>
            <a:ext cx="5885438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293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Birikim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hedefleri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mikro-tasarruf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özelliğiyle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tasarruf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alışkanlığı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görsel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ilerleme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ile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destekleniyor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94382" y="13764879"/>
            <a:ext cx="5885438" cy="112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2939"/>
              </a:lnSpc>
              <a:buFont typeface="Arial"/>
              <a:buChar char="•"/>
            </a:pPr>
            <a:r>
              <a:rPr lang="en-US" sz="2799" b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Kripto, hisse ve altın verileri tek ekranda sunularak yatırım takibi kolaylaştırılıyor.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94382" y="11206186"/>
            <a:ext cx="5885438" cy="75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293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Günlük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harcama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takibi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akıllı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uyarılarla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kullanıcılar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bütçelerini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gerçek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zamanlı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kontrol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799" b="1" dirty="0" err="1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edebiliyor</a:t>
            </a:r>
            <a:r>
              <a:rPr lang="en-US" sz="2799" b="1" dirty="0">
                <a:solidFill>
                  <a:srgbClr val="0C4449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872637" y="11127040"/>
            <a:ext cx="4451325" cy="423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tr-TR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WhileWallet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dağınık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finans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araçları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yerine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kişisel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finans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yönetiminin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tek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bir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uygulamada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toplanabileceğini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göstermektedir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Modüler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yapı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sayesinde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yeni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finansal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modüller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kolayca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eklenebilir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Gelecekte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yapay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zekâ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destekli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harcama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analizi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otomatik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bütçe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önerileri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banka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entegrasyonu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ile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platform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daha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da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geliştirilebilir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61698" y="10395520"/>
            <a:ext cx="345838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TARTIŞMA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107907" y="10395520"/>
            <a:ext cx="345838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SONUÇLAR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327155" y="3235169"/>
            <a:ext cx="446569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GIRIŞ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27175" y="3915762"/>
            <a:ext cx="11017437" cy="23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5"/>
              </a:lnSpc>
            </a:pPr>
            <a:r>
              <a:rPr lang="tr-TR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WhileWallet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kullanıcıların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günlük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harcamalarını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birikim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hedeflerini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ve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yatırımlarını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tek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bir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platformdan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yönetmesini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sağlayan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web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tabanlı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bir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kişisel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finans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uygulamasıdır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. React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tabanlı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arayüz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ve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Express + SQLite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altyapısıyla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geliştirilen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uygulama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;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bütçe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takibi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ödeme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hatırlatmaları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ve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canlı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piyasa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verileri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(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kripto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hisse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altın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)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sunar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. Amaç,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finansal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farkındalığı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artırarak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kullanıcıların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daha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bilinçli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kararlar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almasını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 </a:t>
            </a:r>
            <a:r>
              <a:rPr lang="en-US" sz="2881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sağlamaktır</a:t>
            </a:r>
            <a:r>
              <a:rPr lang="en-US" sz="2881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822040" y="6814295"/>
            <a:ext cx="347592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METODOLOJI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019946" y="8085153"/>
            <a:ext cx="3460787" cy="108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Bileşen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tabanlı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React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mimarisi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ile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modüler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yeniden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Arial" panose="020B0604020202020204" pitchFamily="34" charset="0"/>
                <a:sym typeface="Darker Grotesque Semi-Bold"/>
              </a:rPr>
              <a:t>kullanılabilir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arayüz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tasarımı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69431" y="7982830"/>
            <a:ext cx="3442591" cy="108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Express REST API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üzerinden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SQLite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veritabanında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kullanıcı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,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işlem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hedef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verilerinin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saklanması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652226" y="8069468"/>
            <a:ext cx="3480086" cy="108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JWT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kimlik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doğrulama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,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bcrypt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şifreleme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ve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canlı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piyasa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API’leriyle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kripto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/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hisse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/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altın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 </a:t>
            </a:r>
            <a:r>
              <a:rPr lang="en-US" sz="2699" b="1" dirty="0" err="1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entegrasyonu</a:t>
            </a:r>
            <a:r>
              <a:rPr lang="en-US" sz="2699" b="1" dirty="0">
                <a:solidFill>
                  <a:srgbClr val="093337"/>
                </a:solidFill>
                <a:latin typeface="Darker Grotesque Semi-Bold"/>
                <a:ea typeface="Darker Grotesque Semi-Bold"/>
                <a:cs typeface="Darker Grotesque Semi-Bold"/>
                <a:sym typeface="Darker Grotesque Semi-Bold"/>
              </a:rPr>
              <a:t>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19946" y="7598467"/>
            <a:ext cx="3213679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b="1" dirty="0" err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Geliştirme</a:t>
            </a:r>
            <a:r>
              <a:rPr lang="en-US" sz="2799" b="1" dirty="0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 </a:t>
            </a:r>
            <a:r>
              <a:rPr lang="en-US" sz="2799" b="1" dirty="0" err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Yaklaşımı</a:t>
            </a:r>
            <a:r>
              <a:rPr lang="en-US" sz="2799" b="1" dirty="0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 :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669431" y="7596742"/>
            <a:ext cx="3213679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b="1" dirty="0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Veri </a:t>
            </a:r>
            <a:r>
              <a:rPr lang="en-US" sz="2799" b="1" dirty="0" err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Yönetimi</a:t>
            </a:r>
            <a:r>
              <a:rPr lang="en-US" sz="2799" b="1" dirty="0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 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92430" y="7421213"/>
            <a:ext cx="3213679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b="1" dirty="0" err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Güvenlik</a:t>
            </a:r>
            <a:r>
              <a:rPr lang="en-US" sz="2799" b="1" dirty="0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 &amp; </a:t>
            </a:r>
            <a:r>
              <a:rPr lang="en-US" sz="2799" b="1" dirty="0" err="1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Entegrasyon</a:t>
            </a:r>
            <a:r>
              <a:rPr lang="en-US" sz="2799" b="1" dirty="0">
                <a:solidFill>
                  <a:srgbClr val="093337"/>
                </a:solidFill>
                <a:latin typeface="Darker Grotesque Heavy"/>
                <a:ea typeface="Darker Grotesque Heavy"/>
                <a:cs typeface="Darker Grotesque Heavy"/>
                <a:sym typeface="Darker Grotesque Heavy"/>
              </a:rPr>
              <a:t> :</a:t>
            </a:r>
          </a:p>
        </p:txBody>
      </p:sp>
      <p:pic>
        <p:nvPicPr>
          <p:cNvPr id="57" name="Picture 55" descr="birikim_grafik.png">
            <a:extLst>
              <a:ext uri="{FF2B5EF4-FFF2-40B4-BE49-F238E27FC236}">
                <a16:creationId xmlns:a16="http://schemas.microsoft.com/office/drawing/2014/main" id="{1FDDEAEA-2397-3387-B843-BBE4A6784F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508" y="15928852"/>
            <a:ext cx="11889592" cy="4993963"/>
          </a:xfrm>
          <a:prstGeom prst="rect">
            <a:avLst/>
          </a:prstGeom>
        </p:spPr>
      </p:pic>
      <p:pic>
        <p:nvPicPr>
          <p:cNvPr id="59" name="Resim 58">
            <a:extLst>
              <a:ext uri="{FF2B5EF4-FFF2-40B4-BE49-F238E27FC236}">
                <a16:creationId xmlns:a16="http://schemas.microsoft.com/office/drawing/2014/main" id="{E51CDA3C-1495-2BFB-5A52-F2814FD775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7955" y="20033688"/>
            <a:ext cx="1204374" cy="1192830"/>
          </a:xfrm>
          <a:prstGeom prst="rect">
            <a:avLst/>
          </a:prstGeom>
        </p:spPr>
      </p:pic>
      <p:sp>
        <p:nvSpPr>
          <p:cNvPr id="60" name="Metin kutusu 59">
            <a:extLst>
              <a:ext uri="{FF2B5EF4-FFF2-40B4-BE49-F238E27FC236}">
                <a16:creationId xmlns:a16="http://schemas.microsoft.com/office/drawing/2014/main" id="{89E4D4FC-E57F-6F33-D1BD-6DBB47A428CD}"/>
              </a:ext>
            </a:extLst>
          </p:cNvPr>
          <p:cNvSpPr txBox="1"/>
          <p:nvPr/>
        </p:nvSpPr>
        <p:spPr>
          <a:xfrm>
            <a:off x="7490406" y="1130390"/>
            <a:ext cx="2615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chemeClr val="bg1"/>
                </a:solidFill>
              </a:rPr>
              <a:t>Ayberk Okuyucu</a:t>
            </a:r>
          </a:p>
          <a:p>
            <a:r>
              <a:rPr lang="tr-TR" sz="2400" dirty="0">
                <a:solidFill>
                  <a:schemeClr val="bg1"/>
                </a:solidFill>
              </a:rPr>
              <a:t>Tuna Kahraman  Berkay Efe Özben</a:t>
            </a:r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9A86ADAF-E00C-DA95-8455-01A82EFD0521}"/>
              </a:ext>
            </a:extLst>
          </p:cNvPr>
          <p:cNvSpPr txBox="1"/>
          <p:nvPr/>
        </p:nvSpPr>
        <p:spPr>
          <a:xfrm>
            <a:off x="10216142" y="1064621"/>
            <a:ext cx="2615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solidFill>
                  <a:schemeClr val="bg1"/>
                </a:solidFill>
              </a:rPr>
              <a:t>Hacer Kübra Sevinç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232</Words>
  <Application>Microsoft Office PowerPoint</Application>
  <PresentationFormat>Özel</PresentationFormat>
  <Paragraphs>23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8" baseType="lpstr">
      <vt:lpstr>Darker Grotesque Medium</vt:lpstr>
      <vt:lpstr>Darker Grotesque Semi-Bold</vt:lpstr>
      <vt:lpstr>Arial</vt:lpstr>
      <vt:lpstr>Darker Grotesque Heavy</vt:lpstr>
      <vt:lpstr>Darker Grotesque Ultra-Bold</vt:lpstr>
      <vt:lpstr>Calibri</vt:lpstr>
      <vt:lpstr>Office Theme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Beige Modern Professional Academic Research Poster</dc:title>
  <cp:lastModifiedBy>Ayberk Okuyucu</cp:lastModifiedBy>
  <cp:revision>6</cp:revision>
  <dcterms:created xsi:type="dcterms:W3CDTF">2006-08-16T00:00:00Z</dcterms:created>
  <dcterms:modified xsi:type="dcterms:W3CDTF">2026-06-01T16:41:44Z</dcterms:modified>
  <dc:identifier>DAHKaWVJEtg</dc:identifier>
</cp:coreProperties>
</file>