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5113000" cy="21374100"/>
  <p:notesSz cx="6858000" cy="9144000"/>
  <p:embeddedFontLst>
    <p:embeddedFont>
      <p:font typeface="Code Pro Bold" panose="020B0604020202020204" charset="0"/>
      <p:regular r:id="rId3"/>
    </p:embeddedFont>
    <p:embeddedFont>
      <p:font typeface="Darker Grotesque Heavy" panose="020B0604020202020204" charset="0"/>
      <p:regular r:id="rId4"/>
    </p:embeddedFont>
    <p:embeddedFont>
      <p:font typeface="Darker Grotesque Medium" panose="020B0604020202020204" charset="0"/>
      <p:regular r:id="rId5"/>
    </p:embeddedFont>
    <p:embeddedFont>
      <p:font typeface="Darker Grotesque Semi-Bold" panose="020B0604020202020204" charset="0"/>
      <p:regular r:id="rId6"/>
    </p:embeddedFont>
    <p:embeddedFont>
      <p:font typeface="Darker Grotesque Ultra-Bold" panose="020B0604020202020204" charset="0"/>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2" d="100"/>
          <a:sy n="32" d="100"/>
        </p:scale>
        <p:origin x="2740"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font" Target="fonts/font1.fntdata"/><Relationship Id="rId4" Type="http://schemas.openxmlformats.org/officeDocument/2006/relationships/font" Target="fonts/font2.fntdata"/><Relationship Id="rId5" Type="http://schemas.openxmlformats.org/officeDocument/2006/relationships/font" Target="fonts/font3.fntdata"/><Relationship Id="rId6" Type="http://schemas.openxmlformats.org/officeDocument/2006/relationships/font" Target="fonts/font4.fntdata"/><Relationship Id="rId7" Type="http://schemas.openxmlformats.org/officeDocument/2006/relationships/font" Target="fonts/font5.fntdata"/><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FFA"/>
        </a:solidFill>
        <a:effectLst/>
      </p:bgPr>
    </p:bg>
    <p:spTree>
      <p:nvGrpSpPr>
        <p:cNvPr id="1" name=""/>
        <p:cNvGrpSpPr/>
        <p:nvPr/>
      </p:nvGrpSpPr>
      <p:grpSpPr>
        <a:xfrm>
          <a:off x="0" y="0"/>
          <a:ext cx="0" cy="0"/>
          <a:chOff x="0" y="0"/>
          <a:chExt cx="0" cy="0"/>
        </a:xfrm>
      </p:grpSpPr>
      <p:grpSp>
        <p:nvGrpSpPr>
          <p:cNvPr id="2" name="Group 2"/>
          <p:cNvGrpSpPr/>
          <p:nvPr/>
        </p:nvGrpSpPr>
        <p:grpSpPr>
          <a:xfrm>
            <a:off x="0" y="-1"/>
            <a:ext cx="15113000" cy="2626699"/>
            <a:chOff x="0" y="0"/>
            <a:chExt cx="2934601" cy="549936"/>
          </a:xfrm>
        </p:grpSpPr>
        <p:sp>
          <p:nvSpPr>
            <p:cNvPr id="3" name="Freeform 3"/>
            <p:cNvSpPr/>
            <p:nvPr/>
          </p:nvSpPr>
          <p:spPr>
            <a:xfrm>
              <a:off x="0" y="0"/>
              <a:ext cx="2934601" cy="549936"/>
            </a:xfrm>
            <a:custGeom>
              <a:avLst/>
              <a:gdLst/>
              <a:ahLst/>
              <a:cxnLst/>
              <a:rect l="l" t="t" r="r" b="b"/>
              <a:pathLst>
                <a:path w="2934601" h="549936">
                  <a:moveTo>
                    <a:pt x="0" y="0"/>
                  </a:moveTo>
                  <a:lnTo>
                    <a:pt x="2934601" y="0"/>
                  </a:lnTo>
                  <a:lnTo>
                    <a:pt x="2934601" y="549936"/>
                  </a:lnTo>
                  <a:lnTo>
                    <a:pt x="0" y="549936"/>
                  </a:lnTo>
                  <a:close/>
                </a:path>
              </a:pathLst>
            </a:custGeom>
            <a:solidFill>
              <a:srgbClr val="006D77"/>
            </a:solidFill>
          </p:spPr>
          <p:txBody>
            <a:bodyPr/>
            <a:lstStyle/>
            <a:p>
              <a:endParaRPr lang="tr-TR"/>
            </a:p>
          </p:txBody>
        </p:sp>
        <p:sp>
          <p:nvSpPr>
            <p:cNvPr id="4" name="TextBox 4"/>
            <p:cNvSpPr txBox="1"/>
            <p:nvPr/>
          </p:nvSpPr>
          <p:spPr>
            <a:xfrm>
              <a:off x="0" y="-66675"/>
              <a:ext cx="2934601" cy="616611"/>
            </a:xfrm>
            <a:prstGeom prst="rect">
              <a:avLst/>
            </a:prstGeom>
          </p:spPr>
          <p:txBody>
            <a:bodyPr lIns="50800" tIns="50800" rIns="50800" bIns="50800" rtlCol="0" anchor="ctr"/>
            <a:lstStyle/>
            <a:p>
              <a:pPr algn="ctr">
                <a:lnSpc>
                  <a:spcPts val="4601"/>
                </a:lnSpc>
              </a:pPr>
              <a:endParaRPr/>
            </a:p>
          </p:txBody>
        </p:sp>
      </p:grpSp>
      <p:sp>
        <p:nvSpPr>
          <p:cNvPr id="5" name="Freeform 5"/>
          <p:cNvSpPr/>
          <p:nvPr/>
        </p:nvSpPr>
        <p:spPr>
          <a:xfrm>
            <a:off x="0" y="-150300"/>
            <a:ext cx="15113000" cy="2848638"/>
          </a:xfrm>
          <a:custGeom>
            <a:avLst/>
            <a:gdLst/>
            <a:ahLst/>
            <a:cxnLst/>
            <a:rect l="l" t="t" r="r" b="b"/>
            <a:pathLst>
              <a:path w="16634380" h="2848638">
                <a:moveTo>
                  <a:pt x="0" y="0"/>
                </a:moveTo>
                <a:lnTo>
                  <a:pt x="16634380" y="0"/>
                </a:lnTo>
                <a:lnTo>
                  <a:pt x="16634380" y="2848637"/>
                </a:lnTo>
                <a:lnTo>
                  <a:pt x="0" y="2848637"/>
                </a:lnTo>
                <a:lnTo>
                  <a:pt x="0" y="0"/>
                </a:lnTo>
                <a:close/>
              </a:path>
            </a:pathLst>
          </a:custGeom>
          <a:blipFill>
            <a:blip>
              <a:extLst>
                <a:ext uri="{96DAC541-7B7A-43D3-8B79-37D633B846F1}">
                  <asvg:svgBlip xmlns:asvg="http://schemas.microsoft.com/office/drawing/2016/SVG/main" r:embed="rId2"/>
                </a:ext>
              </a:extLst>
            </a:blip>
            <a:stretch>
              <a:fillRect l="-4241" r="-5827"/>
            </a:stretch>
          </a:blipFill>
        </p:spPr>
        <p:txBody>
          <a:bodyPr/>
          <a:lstStyle/>
          <a:p>
            <a:endParaRPr lang="tr-TR" dirty="0"/>
          </a:p>
        </p:txBody>
      </p:sp>
      <p:sp>
        <p:nvSpPr>
          <p:cNvPr id="6" name="AutoShape 6"/>
          <p:cNvSpPr/>
          <p:nvPr/>
        </p:nvSpPr>
        <p:spPr>
          <a:xfrm>
            <a:off x="11098300" y="729944"/>
            <a:ext cx="0" cy="344421"/>
          </a:xfrm>
          <a:prstGeom prst="line">
            <a:avLst/>
          </a:prstGeom>
          <a:ln w="19050" cap="flat">
            <a:solidFill>
              <a:srgbClr val="FFFFFF"/>
            </a:solidFill>
            <a:prstDash val="solid"/>
            <a:headEnd type="none" w="sm" len="sm"/>
            <a:tailEnd type="none" w="sm" len="sm"/>
          </a:ln>
        </p:spPr>
        <p:txBody>
          <a:bodyPr/>
          <a:lstStyle/>
          <a:p>
            <a:endParaRPr lang="tr-TR"/>
          </a:p>
        </p:txBody>
      </p:sp>
      <p:grpSp>
        <p:nvGrpSpPr>
          <p:cNvPr id="7" name="Group 7"/>
          <p:cNvGrpSpPr/>
          <p:nvPr/>
        </p:nvGrpSpPr>
        <p:grpSpPr>
          <a:xfrm>
            <a:off x="1512000" y="10630593"/>
            <a:ext cx="6650201" cy="4923863"/>
            <a:chOff x="0" y="0"/>
            <a:chExt cx="1191641" cy="882301"/>
          </a:xfrm>
        </p:grpSpPr>
        <p:sp>
          <p:nvSpPr>
            <p:cNvPr id="8" name="Freeform 8"/>
            <p:cNvSpPr/>
            <p:nvPr/>
          </p:nvSpPr>
          <p:spPr>
            <a:xfrm>
              <a:off x="0" y="0"/>
              <a:ext cx="1191641" cy="882301"/>
            </a:xfrm>
            <a:custGeom>
              <a:avLst/>
              <a:gdLst/>
              <a:ahLst/>
              <a:cxnLst/>
              <a:rect l="l" t="t" r="r" b="b"/>
              <a:pathLst>
                <a:path w="1191641" h="882301">
                  <a:moveTo>
                    <a:pt x="64029" y="0"/>
                  </a:moveTo>
                  <a:lnTo>
                    <a:pt x="1127612" y="0"/>
                  </a:lnTo>
                  <a:cubicBezTo>
                    <a:pt x="1144594" y="0"/>
                    <a:pt x="1160880" y="6746"/>
                    <a:pt x="1172887" y="18754"/>
                  </a:cubicBezTo>
                  <a:cubicBezTo>
                    <a:pt x="1184895" y="30761"/>
                    <a:pt x="1191641" y="47047"/>
                    <a:pt x="1191641" y="64029"/>
                  </a:cubicBezTo>
                  <a:lnTo>
                    <a:pt x="1191641" y="818272"/>
                  </a:lnTo>
                  <a:cubicBezTo>
                    <a:pt x="1191641" y="835253"/>
                    <a:pt x="1184895" y="851539"/>
                    <a:pt x="1172887" y="863547"/>
                  </a:cubicBezTo>
                  <a:cubicBezTo>
                    <a:pt x="1160880" y="875555"/>
                    <a:pt x="1144594" y="882301"/>
                    <a:pt x="1127612" y="882301"/>
                  </a:cubicBezTo>
                  <a:lnTo>
                    <a:pt x="64029" y="882301"/>
                  </a:lnTo>
                  <a:cubicBezTo>
                    <a:pt x="47047" y="882301"/>
                    <a:pt x="30761" y="875555"/>
                    <a:pt x="18754" y="863547"/>
                  </a:cubicBezTo>
                  <a:cubicBezTo>
                    <a:pt x="6746" y="851539"/>
                    <a:pt x="0" y="835253"/>
                    <a:pt x="0" y="818272"/>
                  </a:cubicBezTo>
                  <a:lnTo>
                    <a:pt x="0" y="64029"/>
                  </a:lnTo>
                  <a:cubicBezTo>
                    <a:pt x="0" y="47047"/>
                    <a:pt x="6746" y="30761"/>
                    <a:pt x="18754" y="18754"/>
                  </a:cubicBezTo>
                  <a:cubicBezTo>
                    <a:pt x="30761" y="6746"/>
                    <a:pt x="47047" y="0"/>
                    <a:pt x="64029" y="0"/>
                  </a:cubicBezTo>
                  <a:close/>
                </a:path>
              </a:pathLst>
            </a:custGeom>
            <a:solidFill>
              <a:srgbClr val="FFFFFF"/>
            </a:solidFill>
            <a:ln w="23812" cap="rnd">
              <a:solidFill>
                <a:srgbClr val="0C4449"/>
              </a:solidFill>
              <a:prstDash val="solid"/>
              <a:round/>
            </a:ln>
          </p:spPr>
          <p:txBody>
            <a:bodyPr/>
            <a:lstStyle/>
            <a:p>
              <a:endParaRPr lang="tr-TR"/>
            </a:p>
          </p:txBody>
        </p:sp>
        <p:sp>
          <p:nvSpPr>
            <p:cNvPr id="9" name="TextBox 9"/>
            <p:cNvSpPr txBox="1"/>
            <p:nvPr/>
          </p:nvSpPr>
          <p:spPr>
            <a:xfrm>
              <a:off x="0" y="-66675"/>
              <a:ext cx="1191641" cy="948976"/>
            </a:xfrm>
            <a:prstGeom prst="rect">
              <a:avLst/>
            </a:prstGeom>
          </p:spPr>
          <p:txBody>
            <a:bodyPr lIns="50800" tIns="50800" rIns="50800" bIns="50800" rtlCol="0" anchor="ctr"/>
            <a:lstStyle/>
            <a:p>
              <a:pPr algn="ctr">
                <a:lnSpc>
                  <a:spcPts val="4601"/>
                </a:lnSpc>
              </a:pPr>
              <a:endParaRPr/>
            </a:p>
          </p:txBody>
        </p:sp>
      </p:grpSp>
      <p:grpSp>
        <p:nvGrpSpPr>
          <p:cNvPr id="10" name="Group 10"/>
          <p:cNvGrpSpPr/>
          <p:nvPr/>
        </p:nvGrpSpPr>
        <p:grpSpPr>
          <a:xfrm>
            <a:off x="8373784" y="10630593"/>
            <a:ext cx="5234216" cy="4923863"/>
            <a:chOff x="0" y="0"/>
            <a:chExt cx="937912" cy="882301"/>
          </a:xfrm>
        </p:grpSpPr>
        <p:sp>
          <p:nvSpPr>
            <p:cNvPr id="11" name="Freeform 11"/>
            <p:cNvSpPr/>
            <p:nvPr/>
          </p:nvSpPr>
          <p:spPr>
            <a:xfrm>
              <a:off x="0" y="0"/>
              <a:ext cx="937912" cy="882301"/>
            </a:xfrm>
            <a:custGeom>
              <a:avLst/>
              <a:gdLst/>
              <a:ahLst/>
              <a:cxnLst/>
              <a:rect l="l" t="t" r="r" b="b"/>
              <a:pathLst>
                <a:path w="937912" h="882301">
                  <a:moveTo>
                    <a:pt x="81350" y="0"/>
                  </a:moveTo>
                  <a:lnTo>
                    <a:pt x="856562" y="0"/>
                  </a:lnTo>
                  <a:cubicBezTo>
                    <a:pt x="878137" y="0"/>
                    <a:pt x="898829" y="8571"/>
                    <a:pt x="914085" y="23827"/>
                  </a:cubicBezTo>
                  <a:cubicBezTo>
                    <a:pt x="929342" y="39083"/>
                    <a:pt x="937912" y="59775"/>
                    <a:pt x="937912" y="81350"/>
                  </a:cubicBezTo>
                  <a:lnTo>
                    <a:pt x="937912" y="800950"/>
                  </a:lnTo>
                  <a:cubicBezTo>
                    <a:pt x="937912" y="845879"/>
                    <a:pt x="901491" y="882301"/>
                    <a:pt x="856562" y="882301"/>
                  </a:cubicBezTo>
                  <a:lnTo>
                    <a:pt x="81350" y="882301"/>
                  </a:lnTo>
                  <a:cubicBezTo>
                    <a:pt x="36422" y="882301"/>
                    <a:pt x="0" y="845879"/>
                    <a:pt x="0" y="800950"/>
                  </a:cubicBezTo>
                  <a:lnTo>
                    <a:pt x="0" y="81350"/>
                  </a:lnTo>
                  <a:cubicBezTo>
                    <a:pt x="0" y="36422"/>
                    <a:pt x="36422" y="0"/>
                    <a:pt x="81350" y="0"/>
                  </a:cubicBezTo>
                  <a:close/>
                </a:path>
              </a:pathLst>
            </a:custGeom>
            <a:solidFill>
              <a:srgbClr val="FFFFFF"/>
            </a:solidFill>
            <a:ln w="23812" cap="rnd">
              <a:solidFill>
                <a:srgbClr val="0C4449"/>
              </a:solidFill>
              <a:prstDash val="solid"/>
              <a:round/>
            </a:ln>
          </p:spPr>
          <p:txBody>
            <a:bodyPr/>
            <a:lstStyle/>
            <a:p>
              <a:endParaRPr lang="tr-TR"/>
            </a:p>
          </p:txBody>
        </p:sp>
        <p:sp>
          <p:nvSpPr>
            <p:cNvPr id="12" name="TextBox 12"/>
            <p:cNvSpPr txBox="1"/>
            <p:nvPr/>
          </p:nvSpPr>
          <p:spPr>
            <a:xfrm>
              <a:off x="0" y="-66675"/>
              <a:ext cx="937912" cy="948976"/>
            </a:xfrm>
            <a:prstGeom prst="rect">
              <a:avLst/>
            </a:prstGeom>
          </p:spPr>
          <p:txBody>
            <a:bodyPr lIns="50800" tIns="50800" rIns="50800" bIns="50800" rtlCol="0" anchor="ctr"/>
            <a:lstStyle/>
            <a:p>
              <a:pPr algn="ctr">
                <a:lnSpc>
                  <a:spcPts val="4601"/>
                </a:lnSpc>
              </a:pPr>
              <a:endParaRPr/>
            </a:p>
          </p:txBody>
        </p:sp>
      </p:grpSp>
      <p:sp>
        <p:nvSpPr>
          <p:cNvPr id="13" name="Freeform 13"/>
          <p:cNvSpPr/>
          <p:nvPr/>
        </p:nvSpPr>
        <p:spPr>
          <a:xfrm>
            <a:off x="0" y="16286698"/>
            <a:ext cx="15113000" cy="5066673"/>
          </a:xfrm>
          <a:custGeom>
            <a:avLst/>
            <a:gdLst/>
            <a:ahLst/>
            <a:cxnLst/>
            <a:rect l="l" t="t" r="r" b="b"/>
            <a:pathLst>
              <a:path w="16080254" h="7376816">
                <a:moveTo>
                  <a:pt x="0" y="0"/>
                </a:moveTo>
                <a:lnTo>
                  <a:pt x="16080254" y="0"/>
                </a:lnTo>
                <a:lnTo>
                  <a:pt x="16080254" y="7376816"/>
                </a:lnTo>
                <a:lnTo>
                  <a:pt x="0" y="7376816"/>
                </a:lnTo>
                <a:lnTo>
                  <a:pt x="0" y="0"/>
                </a:lnTo>
                <a:close/>
              </a:path>
            </a:pathLst>
          </a:custGeom>
          <a:blipFill>
            <a:blip>
              <a:extLst>
                <a:ext uri="{96DAC541-7B7A-43D3-8B79-37D633B846F1}">
                  <asvg:svgBlip xmlns:asvg="http://schemas.microsoft.com/office/drawing/2016/SVG/main" r:embed="rId3"/>
                </a:ext>
              </a:extLst>
            </a:blip>
            <a:stretch>
              <a:fillRect l="-3177" t="-1" r="-3223" b="-45594"/>
            </a:stretch>
          </a:blipFill>
        </p:spPr>
        <p:txBody>
          <a:bodyPr/>
          <a:lstStyle/>
          <a:p>
            <a:endParaRPr lang="tr-TR" dirty="0"/>
          </a:p>
        </p:txBody>
      </p:sp>
      <p:grpSp>
        <p:nvGrpSpPr>
          <p:cNvPr id="14" name="Group 14"/>
          <p:cNvGrpSpPr/>
          <p:nvPr/>
        </p:nvGrpSpPr>
        <p:grpSpPr>
          <a:xfrm>
            <a:off x="1512000" y="15830681"/>
            <a:ext cx="12096000" cy="5150596"/>
            <a:chOff x="0" y="0"/>
            <a:chExt cx="2167467" cy="922929"/>
          </a:xfrm>
        </p:grpSpPr>
        <p:sp>
          <p:nvSpPr>
            <p:cNvPr id="15" name="Freeform 15"/>
            <p:cNvSpPr/>
            <p:nvPr/>
          </p:nvSpPr>
          <p:spPr>
            <a:xfrm>
              <a:off x="0" y="0"/>
              <a:ext cx="2167467" cy="922929"/>
            </a:xfrm>
            <a:custGeom>
              <a:avLst/>
              <a:gdLst/>
              <a:ahLst/>
              <a:cxnLst/>
              <a:rect l="l" t="t" r="r" b="b"/>
              <a:pathLst>
                <a:path w="2167467" h="922929">
                  <a:moveTo>
                    <a:pt x="35202" y="0"/>
                  </a:moveTo>
                  <a:lnTo>
                    <a:pt x="2132265" y="0"/>
                  </a:lnTo>
                  <a:cubicBezTo>
                    <a:pt x="2151706" y="0"/>
                    <a:pt x="2167467" y="15761"/>
                    <a:pt x="2167467" y="35202"/>
                  </a:cubicBezTo>
                  <a:lnTo>
                    <a:pt x="2167467" y="887726"/>
                  </a:lnTo>
                  <a:cubicBezTo>
                    <a:pt x="2167467" y="907168"/>
                    <a:pt x="2151706" y="922929"/>
                    <a:pt x="2132265" y="922929"/>
                  </a:cubicBezTo>
                  <a:lnTo>
                    <a:pt x="35202" y="922929"/>
                  </a:lnTo>
                  <a:cubicBezTo>
                    <a:pt x="15761" y="922929"/>
                    <a:pt x="0" y="907168"/>
                    <a:pt x="0" y="887726"/>
                  </a:cubicBezTo>
                  <a:lnTo>
                    <a:pt x="0" y="35202"/>
                  </a:lnTo>
                  <a:cubicBezTo>
                    <a:pt x="0" y="15761"/>
                    <a:pt x="15761" y="0"/>
                    <a:pt x="35202" y="0"/>
                  </a:cubicBezTo>
                  <a:close/>
                </a:path>
              </a:pathLst>
            </a:custGeom>
            <a:solidFill>
              <a:srgbClr val="FFFFFF"/>
            </a:solidFill>
            <a:ln w="23812" cap="rnd">
              <a:solidFill>
                <a:srgbClr val="0C4449"/>
              </a:solidFill>
              <a:prstDash val="solid"/>
              <a:round/>
            </a:ln>
          </p:spPr>
          <p:txBody>
            <a:bodyPr/>
            <a:lstStyle/>
            <a:p>
              <a:endParaRPr lang="tr-TR"/>
            </a:p>
          </p:txBody>
        </p:sp>
        <p:sp>
          <p:nvSpPr>
            <p:cNvPr id="16" name="TextBox 16"/>
            <p:cNvSpPr txBox="1"/>
            <p:nvPr/>
          </p:nvSpPr>
          <p:spPr>
            <a:xfrm>
              <a:off x="0" y="-66675"/>
              <a:ext cx="2167467" cy="989604"/>
            </a:xfrm>
            <a:prstGeom prst="rect">
              <a:avLst/>
            </a:prstGeom>
          </p:spPr>
          <p:txBody>
            <a:bodyPr lIns="50800" tIns="50800" rIns="50800" bIns="50800" rtlCol="0" anchor="ctr"/>
            <a:lstStyle/>
            <a:p>
              <a:pPr algn="ctr">
                <a:lnSpc>
                  <a:spcPts val="4601"/>
                </a:lnSpc>
              </a:pPr>
              <a:endParaRPr/>
            </a:p>
          </p:txBody>
        </p:sp>
      </p:grpSp>
      <p:grpSp>
        <p:nvGrpSpPr>
          <p:cNvPr id="18" name="Group 18"/>
          <p:cNvGrpSpPr/>
          <p:nvPr/>
        </p:nvGrpSpPr>
        <p:grpSpPr>
          <a:xfrm>
            <a:off x="8828031" y="10173013"/>
            <a:ext cx="4325722" cy="915159"/>
            <a:chOff x="0" y="0"/>
            <a:chExt cx="775121" cy="163986"/>
          </a:xfrm>
        </p:grpSpPr>
        <p:sp>
          <p:nvSpPr>
            <p:cNvPr id="19" name="Freeform 19"/>
            <p:cNvSpPr/>
            <p:nvPr/>
          </p:nvSpPr>
          <p:spPr>
            <a:xfrm>
              <a:off x="0" y="0"/>
              <a:ext cx="775121" cy="163986"/>
            </a:xfrm>
            <a:custGeom>
              <a:avLst/>
              <a:gdLst/>
              <a:ahLst/>
              <a:cxnLst/>
              <a:rect l="l" t="t" r="r" b="b"/>
              <a:pathLst>
                <a:path w="775121" h="163986">
                  <a:moveTo>
                    <a:pt x="48323" y="0"/>
                  </a:moveTo>
                  <a:lnTo>
                    <a:pt x="726798" y="0"/>
                  </a:lnTo>
                  <a:cubicBezTo>
                    <a:pt x="739614" y="0"/>
                    <a:pt x="751905" y="5091"/>
                    <a:pt x="760967" y="14153"/>
                  </a:cubicBezTo>
                  <a:cubicBezTo>
                    <a:pt x="770029" y="23216"/>
                    <a:pt x="775121" y="35507"/>
                    <a:pt x="775121" y="48323"/>
                  </a:cubicBezTo>
                  <a:lnTo>
                    <a:pt x="775121" y="115663"/>
                  </a:lnTo>
                  <a:cubicBezTo>
                    <a:pt x="775121" y="128479"/>
                    <a:pt x="770029" y="140770"/>
                    <a:pt x="760967" y="149833"/>
                  </a:cubicBezTo>
                  <a:cubicBezTo>
                    <a:pt x="751905" y="158895"/>
                    <a:pt x="739614" y="163986"/>
                    <a:pt x="726798" y="163986"/>
                  </a:cubicBezTo>
                  <a:lnTo>
                    <a:pt x="48323" y="163986"/>
                  </a:lnTo>
                  <a:cubicBezTo>
                    <a:pt x="35507" y="163986"/>
                    <a:pt x="23216" y="158895"/>
                    <a:pt x="14153" y="149833"/>
                  </a:cubicBezTo>
                  <a:cubicBezTo>
                    <a:pt x="5091" y="140770"/>
                    <a:pt x="0" y="128479"/>
                    <a:pt x="0" y="115663"/>
                  </a:cubicBezTo>
                  <a:lnTo>
                    <a:pt x="0" y="48323"/>
                  </a:lnTo>
                  <a:cubicBezTo>
                    <a:pt x="0" y="35507"/>
                    <a:pt x="5091" y="23216"/>
                    <a:pt x="14153" y="14153"/>
                  </a:cubicBezTo>
                  <a:cubicBezTo>
                    <a:pt x="23216" y="5091"/>
                    <a:pt x="35507" y="0"/>
                    <a:pt x="48323" y="0"/>
                  </a:cubicBezTo>
                  <a:close/>
                </a:path>
              </a:pathLst>
            </a:custGeom>
            <a:solidFill>
              <a:srgbClr val="83C5BE"/>
            </a:solidFill>
            <a:ln w="19050" cap="rnd">
              <a:solidFill>
                <a:srgbClr val="0C4449"/>
              </a:solidFill>
              <a:prstDash val="solid"/>
              <a:round/>
            </a:ln>
          </p:spPr>
          <p:txBody>
            <a:bodyPr/>
            <a:lstStyle/>
            <a:p>
              <a:endParaRPr lang="tr-TR"/>
            </a:p>
          </p:txBody>
        </p:sp>
        <p:sp>
          <p:nvSpPr>
            <p:cNvPr id="20" name="TextBox 20"/>
            <p:cNvSpPr txBox="1"/>
            <p:nvPr/>
          </p:nvSpPr>
          <p:spPr>
            <a:xfrm>
              <a:off x="0" y="-66675"/>
              <a:ext cx="775121" cy="230661"/>
            </a:xfrm>
            <a:prstGeom prst="rect">
              <a:avLst/>
            </a:prstGeom>
          </p:spPr>
          <p:txBody>
            <a:bodyPr lIns="50800" tIns="50800" rIns="50800" bIns="50800" rtlCol="0" anchor="ctr"/>
            <a:lstStyle/>
            <a:p>
              <a:pPr algn="ctr">
                <a:lnSpc>
                  <a:spcPts val="4601"/>
                </a:lnSpc>
              </a:pPr>
              <a:endParaRPr/>
            </a:p>
          </p:txBody>
        </p:sp>
      </p:grpSp>
      <p:grpSp>
        <p:nvGrpSpPr>
          <p:cNvPr id="21" name="Group 21"/>
          <p:cNvGrpSpPr/>
          <p:nvPr/>
        </p:nvGrpSpPr>
        <p:grpSpPr>
          <a:xfrm>
            <a:off x="2674240" y="10173013"/>
            <a:ext cx="4325722" cy="915159"/>
            <a:chOff x="0" y="0"/>
            <a:chExt cx="775121" cy="163986"/>
          </a:xfrm>
        </p:grpSpPr>
        <p:sp>
          <p:nvSpPr>
            <p:cNvPr id="22" name="Freeform 22"/>
            <p:cNvSpPr/>
            <p:nvPr/>
          </p:nvSpPr>
          <p:spPr>
            <a:xfrm>
              <a:off x="0" y="0"/>
              <a:ext cx="775121" cy="163986"/>
            </a:xfrm>
            <a:custGeom>
              <a:avLst/>
              <a:gdLst/>
              <a:ahLst/>
              <a:cxnLst/>
              <a:rect l="l" t="t" r="r" b="b"/>
              <a:pathLst>
                <a:path w="775121" h="163986">
                  <a:moveTo>
                    <a:pt x="48323" y="0"/>
                  </a:moveTo>
                  <a:lnTo>
                    <a:pt x="726798" y="0"/>
                  </a:lnTo>
                  <a:cubicBezTo>
                    <a:pt x="739614" y="0"/>
                    <a:pt x="751905" y="5091"/>
                    <a:pt x="760967" y="14153"/>
                  </a:cubicBezTo>
                  <a:cubicBezTo>
                    <a:pt x="770029" y="23216"/>
                    <a:pt x="775121" y="35507"/>
                    <a:pt x="775121" y="48323"/>
                  </a:cubicBezTo>
                  <a:lnTo>
                    <a:pt x="775121" y="115663"/>
                  </a:lnTo>
                  <a:cubicBezTo>
                    <a:pt x="775121" y="128479"/>
                    <a:pt x="770029" y="140770"/>
                    <a:pt x="760967" y="149833"/>
                  </a:cubicBezTo>
                  <a:cubicBezTo>
                    <a:pt x="751905" y="158895"/>
                    <a:pt x="739614" y="163986"/>
                    <a:pt x="726798" y="163986"/>
                  </a:cubicBezTo>
                  <a:lnTo>
                    <a:pt x="48323" y="163986"/>
                  </a:lnTo>
                  <a:cubicBezTo>
                    <a:pt x="35507" y="163986"/>
                    <a:pt x="23216" y="158895"/>
                    <a:pt x="14153" y="149833"/>
                  </a:cubicBezTo>
                  <a:cubicBezTo>
                    <a:pt x="5091" y="140770"/>
                    <a:pt x="0" y="128479"/>
                    <a:pt x="0" y="115663"/>
                  </a:cubicBezTo>
                  <a:lnTo>
                    <a:pt x="0" y="48323"/>
                  </a:lnTo>
                  <a:cubicBezTo>
                    <a:pt x="0" y="35507"/>
                    <a:pt x="5091" y="23216"/>
                    <a:pt x="14153" y="14153"/>
                  </a:cubicBezTo>
                  <a:cubicBezTo>
                    <a:pt x="23216" y="5091"/>
                    <a:pt x="35507" y="0"/>
                    <a:pt x="48323" y="0"/>
                  </a:cubicBezTo>
                  <a:close/>
                </a:path>
              </a:pathLst>
            </a:custGeom>
            <a:solidFill>
              <a:srgbClr val="83C5BE"/>
            </a:solidFill>
            <a:ln w="19050" cap="rnd">
              <a:solidFill>
                <a:srgbClr val="0C4449"/>
              </a:solidFill>
              <a:prstDash val="solid"/>
              <a:round/>
            </a:ln>
          </p:spPr>
          <p:txBody>
            <a:bodyPr/>
            <a:lstStyle/>
            <a:p>
              <a:endParaRPr lang="tr-TR"/>
            </a:p>
          </p:txBody>
        </p:sp>
        <p:sp>
          <p:nvSpPr>
            <p:cNvPr id="23" name="TextBox 23"/>
            <p:cNvSpPr txBox="1"/>
            <p:nvPr/>
          </p:nvSpPr>
          <p:spPr>
            <a:xfrm>
              <a:off x="0" y="-66675"/>
              <a:ext cx="775121" cy="230661"/>
            </a:xfrm>
            <a:prstGeom prst="rect">
              <a:avLst/>
            </a:prstGeom>
          </p:spPr>
          <p:txBody>
            <a:bodyPr lIns="50800" tIns="50800" rIns="50800" bIns="50800" rtlCol="0" anchor="ctr"/>
            <a:lstStyle/>
            <a:p>
              <a:pPr algn="ctr">
                <a:lnSpc>
                  <a:spcPts val="4601"/>
                </a:lnSpc>
              </a:pPr>
              <a:endParaRPr/>
            </a:p>
          </p:txBody>
        </p:sp>
      </p:grpSp>
      <p:grpSp>
        <p:nvGrpSpPr>
          <p:cNvPr id="24" name="Group 24"/>
          <p:cNvGrpSpPr/>
          <p:nvPr/>
        </p:nvGrpSpPr>
        <p:grpSpPr>
          <a:xfrm>
            <a:off x="1512000" y="3470242"/>
            <a:ext cx="12096000" cy="2847421"/>
            <a:chOff x="0" y="0"/>
            <a:chExt cx="2167467" cy="510226"/>
          </a:xfrm>
        </p:grpSpPr>
        <p:sp>
          <p:nvSpPr>
            <p:cNvPr id="25" name="Freeform 25"/>
            <p:cNvSpPr/>
            <p:nvPr/>
          </p:nvSpPr>
          <p:spPr>
            <a:xfrm>
              <a:off x="0" y="0"/>
              <a:ext cx="2167467" cy="510226"/>
            </a:xfrm>
            <a:custGeom>
              <a:avLst/>
              <a:gdLst/>
              <a:ahLst/>
              <a:cxnLst/>
              <a:rect l="l" t="t" r="r" b="b"/>
              <a:pathLst>
                <a:path w="2167467" h="510226">
                  <a:moveTo>
                    <a:pt x="19201" y="0"/>
                  </a:moveTo>
                  <a:lnTo>
                    <a:pt x="2148266" y="0"/>
                  </a:lnTo>
                  <a:cubicBezTo>
                    <a:pt x="2158870" y="0"/>
                    <a:pt x="2167467" y="8597"/>
                    <a:pt x="2167467" y="19201"/>
                  </a:cubicBezTo>
                  <a:lnTo>
                    <a:pt x="2167467" y="491025"/>
                  </a:lnTo>
                  <a:cubicBezTo>
                    <a:pt x="2167467" y="496117"/>
                    <a:pt x="2165444" y="501001"/>
                    <a:pt x="2161843" y="504602"/>
                  </a:cubicBezTo>
                  <a:cubicBezTo>
                    <a:pt x="2158242" y="508203"/>
                    <a:pt x="2153358" y="510226"/>
                    <a:pt x="2148266" y="510226"/>
                  </a:cubicBezTo>
                  <a:lnTo>
                    <a:pt x="19201" y="510226"/>
                  </a:lnTo>
                  <a:cubicBezTo>
                    <a:pt x="14109" y="510226"/>
                    <a:pt x="9225" y="508203"/>
                    <a:pt x="5624" y="504602"/>
                  </a:cubicBezTo>
                  <a:cubicBezTo>
                    <a:pt x="2023" y="501001"/>
                    <a:pt x="0" y="496117"/>
                    <a:pt x="0" y="491025"/>
                  </a:cubicBezTo>
                  <a:lnTo>
                    <a:pt x="0" y="19201"/>
                  </a:lnTo>
                  <a:cubicBezTo>
                    <a:pt x="0" y="14109"/>
                    <a:pt x="2023" y="9225"/>
                    <a:pt x="5624" y="5624"/>
                  </a:cubicBezTo>
                  <a:cubicBezTo>
                    <a:pt x="9225" y="2023"/>
                    <a:pt x="14109" y="0"/>
                    <a:pt x="19201" y="0"/>
                  </a:cubicBezTo>
                  <a:close/>
                </a:path>
              </a:pathLst>
            </a:custGeom>
            <a:solidFill>
              <a:srgbClr val="FFFFFF"/>
            </a:solidFill>
            <a:ln w="23812" cap="rnd">
              <a:solidFill>
                <a:srgbClr val="0C4449"/>
              </a:solidFill>
              <a:prstDash val="solid"/>
              <a:round/>
            </a:ln>
          </p:spPr>
          <p:txBody>
            <a:bodyPr/>
            <a:lstStyle/>
            <a:p>
              <a:endParaRPr lang="tr-TR"/>
            </a:p>
          </p:txBody>
        </p:sp>
        <p:sp>
          <p:nvSpPr>
            <p:cNvPr id="26" name="TextBox 26"/>
            <p:cNvSpPr txBox="1"/>
            <p:nvPr/>
          </p:nvSpPr>
          <p:spPr>
            <a:xfrm>
              <a:off x="0" y="-66675"/>
              <a:ext cx="2167467" cy="576901"/>
            </a:xfrm>
            <a:prstGeom prst="rect">
              <a:avLst/>
            </a:prstGeom>
          </p:spPr>
          <p:txBody>
            <a:bodyPr lIns="50800" tIns="50800" rIns="50800" bIns="50800" rtlCol="0" anchor="ctr"/>
            <a:lstStyle/>
            <a:p>
              <a:pPr algn="ctr">
                <a:lnSpc>
                  <a:spcPts val="4601"/>
                </a:lnSpc>
              </a:pPr>
              <a:endParaRPr/>
            </a:p>
          </p:txBody>
        </p:sp>
      </p:grpSp>
      <p:grpSp>
        <p:nvGrpSpPr>
          <p:cNvPr id="27" name="Group 27"/>
          <p:cNvGrpSpPr/>
          <p:nvPr/>
        </p:nvGrpSpPr>
        <p:grpSpPr>
          <a:xfrm>
            <a:off x="5327155" y="3012662"/>
            <a:ext cx="4465691" cy="915159"/>
            <a:chOff x="0" y="0"/>
            <a:chExt cx="800201" cy="163986"/>
          </a:xfrm>
        </p:grpSpPr>
        <p:sp>
          <p:nvSpPr>
            <p:cNvPr id="28" name="Freeform 28"/>
            <p:cNvSpPr/>
            <p:nvPr/>
          </p:nvSpPr>
          <p:spPr>
            <a:xfrm>
              <a:off x="0" y="0"/>
              <a:ext cx="800201" cy="163986"/>
            </a:xfrm>
            <a:custGeom>
              <a:avLst/>
              <a:gdLst/>
              <a:ahLst/>
              <a:cxnLst/>
              <a:rect l="l" t="t" r="r" b="b"/>
              <a:pathLst>
                <a:path w="800201" h="163986">
                  <a:moveTo>
                    <a:pt x="46808" y="0"/>
                  </a:moveTo>
                  <a:lnTo>
                    <a:pt x="753393" y="0"/>
                  </a:lnTo>
                  <a:cubicBezTo>
                    <a:pt x="765807" y="0"/>
                    <a:pt x="777713" y="4932"/>
                    <a:pt x="786491" y="13710"/>
                  </a:cubicBezTo>
                  <a:cubicBezTo>
                    <a:pt x="795270" y="22488"/>
                    <a:pt x="800201" y="34394"/>
                    <a:pt x="800201" y="46808"/>
                  </a:cubicBezTo>
                  <a:lnTo>
                    <a:pt x="800201" y="117178"/>
                  </a:lnTo>
                  <a:cubicBezTo>
                    <a:pt x="800201" y="143029"/>
                    <a:pt x="779245" y="163986"/>
                    <a:pt x="753393" y="163986"/>
                  </a:cubicBezTo>
                  <a:lnTo>
                    <a:pt x="46808" y="163986"/>
                  </a:lnTo>
                  <a:cubicBezTo>
                    <a:pt x="20957" y="163986"/>
                    <a:pt x="0" y="143029"/>
                    <a:pt x="0" y="117178"/>
                  </a:cubicBezTo>
                  <a:lnTo>
                    <a:pt x="0" y="46808"/>
                  </a:lnTo>
                  <a:cubicBezTo>
                    <a:pt x="0" y="20957"/>
                    <a:pt x="20957" y="0"/>
                    <a:pt x="46808" y="0"/>
                  </a:cubicBezTo>
                  <a:close/>
                </a:path>
              </a:pathLst>
            </a:custGeom>
            <a:solidFill>
              <a:srgbClr val="83C5BE"/>
            </a:solidFill>
            <a:ln w="19050" cap="rnd">
              <a:solidFill>
                <a:srgbClr val="0C4449"/>
              </a:solidFill>
              <a:prstDash val="solid"/>
              <a:round/>
            </a:ln>
          </p:spPr>
          <p:txBody>
            <a:bodyPr/>
            <a:lstStyle/>
            <a:p>
              <a:endParaRPr lang="tr-TR"/>
            </a:p>
          </p:txBody>
        </p:sp>
        <p:sp>
          <p:nvSpPr>
            <p:cNvPr id="29" name="TextBox 29"/>
            <p:cNvSpPr txBox="1"/>
            <p:nvPr/>
          </p:nvSpPr>
          <p:spPr>
            <a:xfrm>
              <a:off x="0" y="-66675"/>
              <a:ext cx="800201" cy="230661"/>
            </a:xfrm>
            <a:prstGeom prst="rect">
              <a:avLst/>
            </a:prstGeom>
          </p:spPr>
          <p:txBody>
            <a:bodyPr lIns="50800" tIns="50800" rIns="50800" bIns="50800" rtlCol="0" anchor="ctr"/>
            <a:lstStyle/>
            <a:p>
              <a:pPr algn="ctr">
                <a:lnSpc>
                  <a:spcPts val="4601"/>
                </a:lnSpc>
              </a:pPr>
              <a:endParaRPr/>
            </a:p>
          </p:txBody>
        </p:sp>
      </p:grpSp>
      <p:grpSp>
        <p:nvGrpSpPr>
          <p:cNvPr id="30" name="Group 30"/>
          <p:cNvGrpSpPr/>
          <p:nvPr/>
        </p:nvGrpSpPr>
        <p:grpSpPr>
          <a:xfrm>
            <a:off x="1512000" y="7049367"/>
            <a:ext cx="12096000" cy="2847421"/>
            <a:chOff x="0" y="0"/>
            <a:chExt cx="2167467" cy="510226"/>
          </a:xfrm>
        </p:grpSpPr>
        <p:sp>
          <p:nvSpPr>
            <p:cNvPr id="31" name="Freeform 31"/>
            <p:cNvSpPr/>
            <p:nvPr/>
          </p:nvSpPr>
          <p:spPr>
            <a:xfrm>
              <a:off x="0" y="0"/>
              <a:ext cx="2167467" cy="510226"/>
            </a:xfrm>
            <a:custGeom>
              <a:avLst/>
              <a:gdLst/>
              <a:ahLst/>
              <a:cxnLst/>
              <a:rect l="l" t="t" r="r" b="b"/>
              <a:pathLst>
                <a:path w="2167467" h="510226">
                  <a:moveTo>
                    <a:pt x="19201" y="0"/>
                  </a:moveTo>
                  <a:lnTo>
                    <a:pt x="2148266" y="0"/>
                  </a:lnTo>
                  <a:cubicBezTo>
                    <a:pt x="2158870" y="0"/>
                    <a:pt x="2167467" y="8597"/>
                    <a:pt x="2167467" y="19201"/>
                  </a:cubicBezTo>
                  <a:lnTo>
                    <a:pt x="2167467" y="491025"/>
                  </a:lnTo>
                  <a:cubicBezTo>
                    <a:pt x="2167467" y="496117"/>
                    <a:pt x="2165444" y="501001"/>
                    <a:pt x="2161843" y="504602"/>
                  </a:cubicBezTo>
                  <a:cubicBezTo>
                    <a:pt x="2158242" y="508203"/>
                    <a:pt x="2153358" y="510226"/>
                    <a:pt x="2148266" y="510226"/>
                  </a:cubicBezTo>
                  <a:lnTo>
                    <a:pt x="19201" y="510226"/>
                  </a:lnTo>
                  <a:cubicBezTo>
                    <a:pt x="14109" y="510226"/>
                    <a:pt x="9225" y="508203"/>
                    <a:pt x="5624" y="504602"/>
                  </a:cubicBezTo>
                  <a:cubicBezTo>
                    <a:pt x="2023" y="501001"/>
                    <a:pt x="0" y="496117"/>
                    <a:pt x="0" y="491025"/>
                  </a:cubicBezTo>
                  <a:lnTo>
                    <a:pt x="0" y="19201"/>
                  </a:lnTo>
                  <a:cubicBezTo>
                    <a:pt x="0" y="14109"/>
                    <a:pt x="2023" y="9225"/>
                    <a:pt x="5624" y="5624"/>
                  </a:cubicBezTo>
                  <a:cubicBezTo>
                    <a:pt x="9225" y="2023"/>
                    <a:pt x="14109" y="0"/>
                    <a:pt x="19201" y="0"/>
                  </a:cubicBezTo>
                  <a:close/>
                </a:path>
              </a:pathLst>
            </a:custGeom>
            <a:solidFill>
              <a:srgbClr val="FFFFFF"/>
            </a:solidFill>
            <a:ln w="23812" cap="rnd">
              <a:solidFill>
                <a:srgbClr val="0C4449"/>
              </a:solidFill>
              <a:prstDash val="solid"/>
              <a:round/>
            </a:ln>
          </p:spPr>
          <p:txBody>
            <a:bodyPr/>
            <a:lstStyle/>
            <a:p>
              <a:endParaRPr lang="tr-TR"/>
            </a:p>
          </p:txBody>
        </p:sp>
        <p:sp>
          <p:nvSpPr>
            <p:cNvPr id="32" name="TextBox 32"/>
            <p:cNvSpPr txBox="1"/>
            <p:nvPr/>
          </p:nvSpPr>
          <p:spPr>
            <a:xfrm>
              <a:off x="0" y="-66675"/>
              <a:ext cx="2167467" cy="576901"/>
            </a:xfrm>
            <a:prstGeom prst="rect">
              <a:avLst/>
            </a:prstGeom>
          </p:spPr>
          <p:txBody>
            <a:bodyPr lIns="50800" tIns="50800" rIns="50800" bIns="50800" rtlCol="0" anchor="ctr"/>
            <a:lstStyle/>
            <a:p>
              <a:pPr algn="ctr">
                <a:lnSpc>
                  <a:spcPts val="4601"/>
                </a:lnSpc>
              </a:pPr>
              <a:endParaRPr/>
            </a:p>
          </p:txBody>
        </p:sp>
      </p:grpSp>
      <p:grpSp>
        <p:nvGrpSpPr>
          <p:cNvPr id="33" name="Group 33"/>
          <p:cNvGrpSpPr/>
          <p:nvPr/>
        </p:nvGrpSpPr>
        <p:grpSpPr>
          <a:xfrm>
            <a:off x="5327155" y="6591788"/>
            <a:ext cx="4465691" cy="915159"/>
            <a:chOff x="0" y="0"/>
            <a:chExt cx="800201" cy="163986"/>
          </a:xfrm>
        </p:grpSpPr>
        <p:sp>
          <p:nvSpPr>
            <p:cNvPr id="34" name="Freeform 34"/>
            <p:cNvSpPr/>
            <p:nvPr/>
          </p:nvSpPr>
          <p:spPr>
            <a:xfrm>
              <a:off x="0" y="0"/>
              <a:ext cx="800201" cy="163986"/>
            </a:xfrm>
            <a:custGeom>
              <a:avLst/>
              <a:gdLst/>
              <a:ahLst/>
              <a:cxnLst/>
              <a:rect l="l" t="t" r="r" b="b"/>
              <a:pathLst>
                <a:path w="800201" h="163986">
                  <a:moveTo>
                    <a:pt x="46808" y="0"/>
                  </a:moveTo>
                  <a:lnTo>
                    <a:pt x="753393" y="0"/>
                  </a:lnTo>
                  <a:cubicBezTo>
                    <a:pt x="765807" y="0"/>
                    <a:pt x="777713" y="4932"/>
                    <a:pt x="786491" y="13710"/>
                  </a:cubicBezTo>
                  <a:cubicBezTo>
                    <a:pt x="795270" y="22488"/>
                    <a:pt x="800201" y="34394"/>
                    <a:pt x="800201" y="46808"/>
                  </a:cubicBezTo>
                  <a:lnTo>
                    <a:pt x="800201" y="117178"/>
                  </a:lnTo>
                  <a:cubicBezTo>
                    <a:pt x="800201" y="143029"/>
                    <a:pt x="779245" y="163986"/>
                    <a:pt x="753393" y="163986"/>
                  </a:cubicBezTo>
                  <a:lnTo>
                    <a:pt x="46808" y="163986"/>
                  </a:lnTo>
                  <a:cubicBezTo>
                    <a:pt x="20957" y="163986"/>
                    <a:pt x="0" y="143029"/>
                    <a:pt x="0" y="117178"/>
                  </a:cubicBezTo>
                  <a:lnTo>
                    <a:pt x="0" y="46808"/>
                  </a:lnTo>
                  <a:cubicBezTo>
                    <a:pt x="0" y="20957"/>
                    <a:pt x="20957" y="0"/>
                    <a:pt x="46808" y="0"/>
                  </a:cubicBezTo>
                  <a:close/>
                </a:path>
              </a:pathLst>
            </a:custGeom>
            <a:solidFill>
              <a:srgbClr val="83C5BE"/>
            </a:solidFill>
            <a:ln w="19050" cap="rnd">
              <a:solidFill>
                <a:srgbClr val="0C4449"/>
              </a:solidFill>
              <a:prstDash val="solid"/>
              <a:round/>
            </a:ln>
          </p:spPr>
          <p:txBody>
            <a:bodyPr/>
            <a:lstStyle/>
            <a:p>
              <a:endParaRPr lang="tr-TR"/>
            </a:p>
          </p:txBody>
        </p:sp>
        <p:sp>
          <p:nvSpPr>
            <p:cNvPr id="35" name="TextBox 35"/>
            <p:cNvSpPr txBox="1"/>
            <p:nvPr/>
          </p:nvSpPr>
          <p:spPr>
            <a:xfrm>
              <a:off x="0" y="-66675"/>
              <a:ext cx="800201" cy="230661"/>
            </a:xfrm>
            <a:prstGeom prst="rect">
              <a:avLst/>
            </a:prstGeom>
          </p:spPr>
          <p:txBody>
            <a:bodyPr lIns="50800" tIns="50800" rIns="50800" bIns="50800" rtlCol="0" anchor="ctr"/>
            <a:lstStyle/>
            <a:p>
              <a:pPr algn="ctr">
                <a:lnSpc>
                  <a:spcPts val="4601"/>
                </a:lnSpc>
              </a:pPr>
              <a:endParaRPr/>
            </a:p>
          </p:txBody>
        </p:sp>
      </p:grpSp>
      <p:sp>
        <p:nvSpPr>
          <p:cNvPr id="36" name="Freeform 36"/>
          <p:cNvSpPr/>
          <p:nvPr/>
        </p:nvSpPr>
        <p:spPr>
          <a:xfrm>
            <a:off x="0" y="581542"/>
            <a:ext cx="1553944" cy="1384953"/>
          </a:xfrm>
          <a:custGeom>
            <a:avLst/>
            <a:gdLst/>
            <a:ahLst/>
            <a:cxnLst/>
            <a:rect l="l" t="t" r="r" b="b"/>
            <a:pathLst>
              <a:path w="1553944" h="1384953">
                <a:moveTo>
                  <a:pt x="0" y="0"/>
                </a:moveTo>
                <a:lnTo>
                  <a:pt x="1553944" y="0"/>
                </a:lnTo>
                <a:lnTo>
                  <a:pt x="1553944" y="1384953"/>
                </a:lnTo>
                <a:lnTo>
                  <a:pt x="0" y="1384953"/>
                </a:lnTo>
                <a:lnTo>
                  <a:pt x="0" y="0"/>
                </a:lnTo>
                <a:close/>
              </a:path>
            </a:pathLst>
          </a:custGeom>
          <a:blipFill>
            <a:blip r:embed="rId5"/>
            <a:stretch>
              <a:fillRect/>
            </a:stretch>
          </a:blipFill>
        </p:spPr>
        <p:txBody>
          <a:bodyPr/>
          <a:lstStyle/>
          <a:p>
            <a:endParaRPr lang="tr-TR"/>
          </a:p>
        </p:txBody>
      </p:sp>
      <p:sp>
        <p:nvSpPr>
          <p:cNvPr id="37" name="TextBox 37"/>
          <p:cNvSpPr txBox="1"/>
          <p:nvPr/>
        </p:nvSpPr>
        <p:spPr>
          <a:xfrm>
            <a:off x="8311196" y="1174612"/>
            <a:ext cx="6183616" cy="402590"/>
          </a:xfrm>
          <a:prstGeom prst="rect">
            <a:avLst/>
          </a:prstGeom>
        </p:spPr>
        <p:txBody>
          <a:bodyPr lIns="0" tIns="0" rIns="0" bIns="0" rtlCol="0" anchor="t">
            <a:spAutoFit/>
          </a:bodyPr>
          <a:lstStyle/>
          <a:p>
            <a:pPr algn="l">
              <a:lnSpc>
                <a:spcPts val="3099"/>
              </a:lnSpc>
            </a:pPr>
            <a:r>
              <a:rPr lang="en-US" sz="3099" b="1" spc="-12">
                <a:solidFill>
                  <a:srgbClr val="FEFFFA"/>
                </a:solidFill>
                <a:latin typeface="Darker Grotesque Medium"/>
                <a:ea typeface="Darker Grotesque Medium"/>
                <a:cs typeface="Darker Grotesque Medium"/>
                <a:sym typeface="Darker Grotesque Medium"/>
              </a:rPr>
              <a:t>Bilişim Teknolojileri Meslek Yüksekokulu</a:t>
            </a:r>
          </a:p>
          <a:p>
            <a:pPr algn="l">
              <a:lnSpc>
                <a:spcPts val="3099"/>
              </a:lnSpc>
            </a:pPr>
            <a:r>
              <a:rPr lang="en-US" sz="3099" b="1" spc="-12">
                <a:solidFill>
                  <a:srgbClr val="FEFFFA"/>
                </a:solidFill>
                <a:latin typeface="Darker Grotesque Medium"/>
                <a:ea typeface="Darker Grotesque Medium"/>
                <a:cs typeface="Darker Grotesque Medium"/>
                <a:sym typeface="Darker Grotesque Medium"/>
              </a:rPr>
              <a:t>Ön Yüz Yazılım Geliştirme</a:t>
            </a:r>
          </a:p>
        </p:txBody>
      </p:sp>
      <p:sp>
        <p:nvSpPr>
          <p:cNvPr id="38" name="TextBox 38"/>
          <p:cNvSpPr txBox="1"/>
          <p:nvPr/>
        </p:nvSpPr>
        <p:spPr>
          <a:xfrm>
            <a:off x="1637722" y="537432"/>
            <a:ext cx="6142098" cy="1741805"/>
          </a:xfrm>
          <a:prstGeom prst="rect">
            <a:avLst/>
          </a:prstGeom>
        </p:spPr>
        <p:txBody>
          <a:bodyPr lIns="0" tIns="0" rIns="0" bIns="0" rtlCol="0" anchor="t">
            <a:spAutoFit/>
          </a:bodyPr>
          <a:lstStyle/>
          <a:p>
            <a:pPr algn="l">
              <a:lnSpc>
                <a:spcPts val="6699"/>
              </a:lnSpc>
            </a:pPr>
            <a:r>
              <a:rPr lang="en-US" sz="6699" b="1" spc="-334">
                <a:solidFill>
                  <a:srgbClr val="FEFFFA"/>
                </a:solidFill>
                <a:latin typeface="Code Pro Bold"/>
                <a:ea typeface="Code Pro Bold"/>
                <a:cs typeface="Code Pro Bold"/>
                <a:sym typeface="Code Pro Bold"/>
              </a:rPr>
              <a:t>Finance App</a:t>
            </a:r>
          </a:p>
          <a:p>
            <a:pPr algn="l">
              <a:lnSpc>
                <a:spcPts val="6699"/>
              </a:lnSpc>
            </a:pPr>
            <a:r>
              <a:rPr lang="en-US" sz="6699" b="1" spc="-334">
                <a:solidFill>
                  <a:srgbClr val="FEFFFA"/>
                </a:solidFill>
                <a:latin typeface="Code Pro Bold"/>
                <a:ea typeface="Code Pro Bold"/>
                <a:cs typeface="Code Pro Bold"/>
                <a:sym typeface="Code Pro Bold"/>
              </a:rPr>
              <a:t>Kişisel Bütçe ve Yatırım Takip Platformu</a:t>
            </a:r>
          </a:p>
        </p:txBody>
      </p:sp>
      <p:sp>
        <p:nvSpPr>
          <p:cNvPr id="39" name="TextBox 39"/>
          <p:cNvSpPr txBox="1"/>
          <p:nvPr/>
        </p:nvSpPr>
        <p:spPr>
          <a:xfrm>
            <a:off x="8311196" y="743997"/>
            <a:ext cx="2787104" cy="363941"/>
          </a:xfrm>
          <a:prstGeom prst="rect">
            <a:avLst/>
          </a:prstGeom>
        </p:spPr>
        <p:txBody>
          <a:bodyPr lIns="0" tIns="0" rIns="0" bIns="0" rtlCol="0" anchor="t">
            <a:spAutoFit/>
          </a:bodyPr>
          <a:lstStyle/>
          <a:p>
            <a:pPr algn="l">
              <a:lnSpc>
                <a:spcPts val="2703"/>
              </a:lnSpc>
            </a:pPr>
            <a:r>
              <a:rPr lang="en-US" sz="2703" b="1" spc="-10">
                <a:solidFill>
                  <a:srgbClr val="FEFFFA"/>
                </a:solidFill>
                <a:latin typeface="Darker Grotesque Ultra-Bold"/>
                <a:ea typeface="Darker Grotesque Ultra-Bold"/>
                <a:cs typeface="Darker Grotesque Ultra-Bold"/>
                <a:sym typeface="Darker Grotesque Ultra-Bold"/>
              </a:rPr>
              <a:t>ÖĞRENCI ADI</a:t>
            </a:r>
          </a:p>
        </p:txBody>
      </p:sp>
      <p:sp>
        <p:nvSpPr>
          <p:cNvPr id="40" name="TextBox 40"/>
          <p:cNvSpPr txBox="1"/>
          <p:nvPr/>
        </p:nvSpPr>
        <p:spPr>
          <a:xfrm>
            <a:off x="11210453" y="743997"/>
            <a:ext cx="2547502" cy="363941"/>
          </a:xfrm>
          <a:prstGeom prst="rect">
            <a:avLst/>
          </a:prstGeom>
        </p:spPr>
        <p:txBody>
          <a:bodyPr lIns="0" tIns="0" rIns="0" bIns="0" rtlCol="0" anchor="t">
            <a:spAutoFit/>
          </a:bodyPr>
          <a:lstStyle/>
          <a:p>
            <a:pPr algn="l">
              <a:lnSpc>
                <a:spcPts val="2703"/>
              </a:lnSpc>
            </a:pPr>
            <a:r>
              <a:rPr lang="en-US" sz="2703" b="1" spc="-10">
                <a:solidFill>
                  <a:srgbClr val="FEFFFA"/>
                </a:solidFill>
                <a:latin typeface="Darker Grotesque Ultra-Bold"/>
                <a:ea typeface="Darker Grotesque Ultra-Bold"/>
                <a:cs typeface="Darker Grotesque Ultra-Bold"/>
                <a:sym typeface="Darker Grotesque Ultra-Bold"/>
              </a:rPr>
              <a:t>DANIŞMAN ADI</a:t>
            </a:r>
          </a:p>
        </p:txBody>
      </p:sp>
      <p:sp>
        <p:nvSpPr>
          <p:cNvPr id="41" name="TextBox 41"/>
          <p:cNvSpPr txBox="1"/>
          <p:nvPr/>
        </p:nvSpPr>
        <p:spPr>
          <a:xfrm>
            <a:off x="1894382" y="12426294"/>
            <a:ext cx="5885438" cy="1129665"/>
          </a:xfrm>
          <a:prstGeom prst="rect">
            <a:avLst/>
          </a:prstGeom>
        </p:spPr>
        <p:txBody>
          <a:bodyPr lIns="0" tIns="0" rIns="0" bIns="0" rtlCol="0" anchor="t">
            <a:spAutoFit/>
          </a:bodyPr>
          <a:lstStyle/>
          <a:p>
            <a:pPr marL="604518" lvl="1" indent="-302259" algn="l">
              <a:lnSpc>
                <a:spcPts val="2939"/>
              </a:lnSpc>
              <a:buFont typeface="Arial"/>
              <a:buChar char="•"/>
            </a:pPr>
            <a:r>
              <a:rPr lang="en-US" sz="2799" b="1">
                <a:solidFill>
                  <a:srgbClr val="0C4449"/>
                </a:solidFill>
                <a:latin typeface="Darker Grotesque Semi-Bold"/>
                <a:ea typeface="Darker Grotesque Semi-Bold"/>
                <a:cs typeface="Darker Grotesque Semi-Bold"/>
                <a:sym typeface="Darker Grotesque Semi-Bold"/>
              </a:rPr>
              <a:t>Birikim hedefleri ve mikro-tasarruf özelliğiyle tasarruf alışkanlığı görsel ilerleme ile destekleniyor.</a:t>
            </a:r>
          </a:p>
        </p:txBody>
      </p:sp>
      <p:sp>
        <p:nvSpPr>
          <p:cNvPr id="42" name="TextBox 42"/>
          <p:cNvSpPr txBox="1"/>
          <p:nvPr/>
        </p:nvSpPr>
        <p:spPr>
          <a:xfrm>
            <a:off x="1894382" y="13764879"/>
            <a:ext cx="5885438" cy="1129665"/>
          </a:xfrm>
          <a:prstGeom prst="rect">
            <a:avLst/>
          </a:prstGeom>
        </p:spPr>
        <p:txBody>
          <a:bodyPr lIns="0" tIns="0" rIns="0" bIns="0" rtlCol="0" anchor="t">
            <a:spAutoFit/>
          </a:bodyPr>
          <a:lstStyle/>
          <a:p>
            <a:pPr marL="604518" lvl="1" indent="-302259" algn="l">
              <a:lnSpc>
                <a:spcPts val="2939"/>
              </a:lnSpc>
              <a:buFont typeface="Arial"/>
              <a:buChar char="•"/>
            </a:pPr>
            <a:r>
              <a:rPr lang="en-US" sz="2799" b="1">
                <a:solidFill>
                  <a:srgbClr val="0C4449"/>
                </a:solidFill>
                <a:latin typeface="Darker Grotesque Semi-Bold"/>
                <a:ea typeface="Darker Grotesque Semi-Bold"/>
                <a:cs typeface="Darker Grotesque Semi-Bold"/>
                <a:sym typeface="Darker Grotesque Semi-Bold"/>
              </a:rPr>
              <a:t>Kripto, hisse ve altın verileri tek ekranda sunularak yatırım takibi kolaylaştırılıyor.</a:t>
            </a:r>
          </a:p>
        </p:txBody>
      </p:sp>
      <p:sp>
        <p:nvSpPr>
          <p:cNvPr id="43" name="TextBox 43"/>
          <p:cNvSpPr txBox="1"/>
          <p:nvPr/>
        </p:nvSpPr>
        <p:spPr>
          <a:xfrm>
            <a:off x="1894382" y="11437404"/>
            <a:ext cx="5885438" cy="758190"/>
          </a:xfrm>
          <a:prstGeom prst="rect">
            <a:avLst/>
          </a:prstGeom>
        </p:spPr>
        <p:txBody>
          <a:bodyPr lIns="0" tIns="0" rIns="0" bIns="0" rtlCol="0" anchor="t">
            <a:spAutoFit/>
          </a:bodyPr>
          <a:lstStyle/>
          <a:p>
            <a:pPr marL="604518" lvl="1" indent="-302259" algn="l">
              <a:lnSpc>
                <a:spcPts val="2939"/>
              </a:lnSpc>
              <a:buFont typeface="Arial"/>
              <a:buChar char="•"/>
            </a:pPr>
            <a:r>
              <a:rPr lang="en-US" sz="2799" b="1">
                <a:solidFill>
                  <a:srgbClr val="0C4449"/>
                </a:solidFill>
                <a:latin typeface="Darker Grotesque Semi-Bold"/>
                <a:ea typeface="Darker Grotesque Semi-Bold"/>
                <a:cs typeface="Darker Grotesque Semi-Bold"/>
                <a:sym typeface="Darker Grotesque Semi-Bold"/>
              </a:rPr>
              <a:t>Günlük harcama takibi ve akıllı uyarılarla kullanıcılar bütçelerini gerçek zamanlı kontrol edebiliyor.</a:t>
            </a:r>
          </a:p>
        </p:txBody>
      </p:sp>
      <p:sp>
        <p:nvSpPr>
          <p:cNvPr id="44" name="TextBox 44"/>
          <p:cNvSpPr txBox="1"/>
          <p:nvPr/>
        </p:nvSpPr>
        <p:spPr>
          <a:xfrm>
            <a:off x="8828031" y="11437404"/>
            <a:ext cx="4451325" cy="3445789"/>
          </a:xfrm>
          <a:prstGeom prst="rect">
            <a:avLst/>
          </a:prstGeom>
        </p:spPr>
        <p:txBody>
          <a:bodyPr lIns="0" tIns="0" rIns="0" bIns="0" rtlCol="0" anchor="t">
            <a:spAutoFit/>
          </a:bodyPr>
          <a:lstStyle/>
          <a:p>
            <a:pPr algn="l">
              <a:lnSpc>
                <a:spcPts val="3025"/>
              </a:lnSpc>
            </a:pPr>
            <a:r>
              <a:rPr lang="en-US" sz="2881" b="1">
                <a:solidFill>
                  <a:srgbClr val="093337"/>
                </a:solidFill>
                <a:latin typeface="Darker Grotesque Semi-Bold"/>
                <a:ea typeface="Darker Grotesque Semi-Bold"/>
                <a:cs typeface="Darker Grotesque Semi-Bold"/>
                <a:sym typeface="Darker Grotesque Semi-Bold"/>
              </a:rPr>
              <a:t>Finance App, dağınık finans araçları yerine kişisel finans yönetiminin tek bir uygulamada toplanabileceğini göstermektedir. Modüler yapı sayesinde yeni finansal modüller kolayca eklenebilir. Gelecekte yapay zekâ destekli harcama analizi, otomatik bütçe önerileri ve banka entegrasyonu ile platform daha da geliştirilebilir.</a:t>
            </a:r>
          </a:p>
        </p:txBody>
      </p:sp>
      <p:sp>
        <p:nvSpPr>
          <p:cNvPr id="45" name="TextBox 45"/>
          <p:cNvSpPr txBox="1"/>
          <p:nvPr/>
        </p:nvSpPr>
        <p:spPr>
          <a:xfrm>
            <a:off x="9261698" y="10395520"/>
            <a:ext cx="3458388" cy="455295"/>
          </a:xfrm>
          <a:prstGeom prst="rect">
            <a:avLst/>
          </a:prstGeom>
        </p:spPr>
        <p:txBody>
          <a:bodyPr lIns="0" tIns="0" rIns="0" bIns="0" rtlCol="0" anchor="t">
            <a:spAutoFit/>
          </a:bodyPr>
          <a:lstStyle/>
          <a:p>
            <a:pPr algn="ctr">
              <a:lnSpc>
                <a:spcPts val="3569"/>
              </a:lnSpc>
            </a:pPr>
            <a:r>
              <a:rPr lang="en-US" sz="3399" b="1">
                <a:solidFill>
                  <a:srgbClr val="093337"/>
                </a:solidFill>
                <a:latin typeface="Darker Grotesque Heavy"/>
                <a:ea typeface="Darker Grotesque Heavy"/>
                <a:cs typeface="Darker Grotesque Heavy"/>
                <a:sym typeface="Darker Grotesque Heavy"/>
              </a:rPr>
              <a:t>TARTIŞMA</a:t>
            </a:r>
          </a:p>
        </p:txBody>
      </p:sp>
      <p:sp>
        <p:nvSpPr>
          <p:cNvPr id="46" name="TextBox 46"/>
          <p:cNvSpPr txBox="1"/>
          <p:nvPr/>
        </p:nvSpPr>
        <p:spPr>
          <a:xfrm>
            <a:off x="3107907" y="10395520"/>
            <a:ext cx="3458388" cy="455295"/>
          </a:xfrm>
          <a:prstGeom prst="rect">
            <a:avLst/>
          </a:prstGeom>
        </p:spPr>
        <p:txBody>
          <a:bodyPr lIns="0" tIns="0" rIns="0" bIns="0" rtlCol="0" anchor="t">
            <a:spAutoFit/>
          </a:bodyPr>
          <a:lstStyle/>
          <a:p>
            <a:pPr algn="ctr">
              <a:lnSpc>
                <a:spcPts val="3569"/>
              </a:lnSpc>
            </a:pPr>
            <a:r>
              <a:rPr lang="en-US" sz="3399" b="1">
                <a:solidFill>
                  <a:srgbClr val="093337"/>
                </a:solidFill>
                <a:latin typeface="Darker Grotesque Heavy"/>
                <a:ea typeface="Darker Grotesque Heavy"/>
                <a:cs typeface="Darker Grotesque Heavy"/>
                <a:sym typeface="Darker Grotesque Heavy"/>
              </a:rPr>
              <a:t>SONUÇLAR</a:t>
            </a:r>
          </a:p>
        </p:txBody>
      </p:sp>
      <p:sp>
        <p:nvSpPr>
          <p:cNvPr id="47" name="TextBox 47"/>
          <p:cNvSpPr txBox="1"/>
          <p:nvPr/>
        </p:nvSpPr>
        <p:spPr>
          <a:xfrm>
            <a:off x="5327155" y="3235169"/>
            <a:ext cx="4465691" cy="455295"/>
          </a:xfrm>
          <a:prstGeom prst="rect">
            <a:avLst/>
          </a:prstGeom>
        </p:spPr>
        <p:txBody>
          <a:bodyPr lIns="0" tIns="0" rIns="0" bIns="0" rtlCol="0" anchor="t">
            <a:spAutoFit/>
          </a:bodyPr>
          <a:lstStyle/>
          <a:p>
            <a:pPr algn="ctr">
              <a:lnSpc>
                <a:spcPts val="3569"/>
              </a:lnSpc>
            </a:pPr>
            <a:r>
              <a:rPr lang="en-US" sz="3399" b="1">
                <a:solidFill>
                  <a:srgbClr val="093337"/>
                </a:solidFill>
                <a:latin typeface="Darker Grotesque Heavy"/>
                <a:ea typeface="Darker Grotesque Heavy"/>
                <a:cs typeface="Darker Grotesque Heavy"/>
                <a:sym typeface="Darker Grotesque Heavy"/>
              </a:rPr>
              <a:t>GIRIŞ</a:t>
            </a:r>
          </a:p>
        </p:txBody>
      </p:sp>
      <p:sp>
        <p:nvSpPr>
          <p:cNvPr id="48" name="TextBox 48"/>
          <p:cNvSpPr txBox="1"/>
          <p:nvPr/>
        </p:nvSpPr>
        <p:spPr>
          <a:xfrm>
            <a:off x="2051282" y="4203154"/>
            <a:ext cx="11017437" cy="1540789"/>
          </a:xfrm>
          <a:prstGeom prst="rect">
            <a:avLst/>
          </a:prstGeom>
        </p:spPr>
        <p:txBody>
          <a:bodyPr lIns="0" tIns="0" rIns="0" bIns="0" rtlCol="0" anchor="t">
            <a:spAutoFit/>
          </a:bodyPr>
          <a:lstStyle/>
          <a:p>
            <a:pPr algn="ctr">
              <a:lnSpc>
                <a:spcPts val="3025"/>
              </a:lnSpc>
            </a:pPr>
            <a:r>
              <a:rPr lang="en-US" sz="2881" b="1">
                <a:solidFill>
                  <a:srgbClr val="093337"/>
                </a:solidFill>
                <a:latin typeface="Darker Grotesque Semi-Bold"/>
                <a:ea typeface="Darker Grotesque Semi-Bold"/>
                <a:cs typeface="Darker Grotesque Semi-Bold"/>
                <a:sym typeface="Darker Grotesque Semi-Bold"/>
              </a:rPr>
              <a:t>Finance App, kullanıcıların günlük harcamalarını, birikim hedeflerini ve yatırımlarını tek bir platformdan yönetmesini sağlayan web tabanlı bir kişisel finans uygulamasıdır. React tabanlı arayüz ve Express + SQLite altyapısıyla geliştirilen uygulama; bütçe takibi, ödeme hatırlatmaları ve canlı piyasa verileri (kripto, hisse, altın) sunar. Amaç, finansal farkındalığı artırarak kullanıcıların daha bilinçli kararlar almasını sağlamaktır.</a:t>
            </a:r>
          </a:p>
        </p:txBody>
      </p:sp>
      <p:sp>
        <p:nvSpPr>
          <p:cNvPr id="49" name="TextBox 49"/>
          <p:cNvSpPr txBox="1"/>
          <p:nvPr/>
        </p:nvSpPr>
        <p:spPr>
          <a:xfrm>
            <a:off x="5822040" y="6814295"/>
            <a:ext cx="3475920" cy="455295"/>
          </a:xfrm>
          <a:prstGeom prst="rect">
            <a:avLst/>
          </a:prstGeom>
        </p:spPr>
        <p:txBody>
          <a:bodyPr lIns="0" tIns="0" rIns="0" bIns="0" rtlCol="0" anchor="t">
            <a:spAutoFit/>
          </a:bodyPr>
          <a:lstStyle/>
          <a:p>
            <a:pPr algn="ctr">
              <a:lnSpc>
                <a:spcPts val="3569"/>
              </a:lnSpc>
            </a:pPr>
            <a:r>
              <a:rPr lang="en-US" sz="3399" b="1">
                <a:solidFill>
                  <a:srgbClr val="093337"/>
                </a:solidFill>
                <a:latin typeface="Darker Grotesque Heavy"/>
                <a:ea typeface="Darker Grotesque Heavy"/>
                <a:cs typeface="Darker Grotesque Heavy"/>
                <a:sym typeface="Darker Grotesque Heavy"/>
              </a:rPr>
              <a:t>METODOLOJI</a:t>
            </a:r>
          </a:p>
        </p:txBody>
      </p:sp>
      <p:sp>
        <p:nvSpPr>
          <p:cNvPr id="50" name="TextBox 50"/>
          <p:cNvSpPr txBox="1"/>
          <p:nvPr/>
        </p:nvSpPr>
        <p:spPr>
          <a:xfrm>
            <a:off x="2019946" y="8301690"/>
            <a:ext cx="3460787" cy="1080135"/>
          </a:xfrm>
          <a:prstGeom prst="rect">
            <a:avLst/>
          </a:prstGeom>
        </p:spPr>
        <p:txBody>
          <a:bodyPr lIns="0" tIns="0" rIns="0" bIns="0" rtlCol="0" anchor="t">
            <a:spAutoFit/>
          </a:bodyPr>
          <a:lstStyle/>
          <a:p>
            <a:pPr algn="l">
              <a:lnSpc>
                <a:spcPts val="2834"/>
              </a:lnSpc>
            </a:pPr>
            <a:r>
              <a:rPr lang="en-US" sz="2699" b="1">
                <a:solidFill>
                  <a:srgbClr val="093337"/>
                </a:solidFill>
                <a:latin typeface="Darker Grotesque Semi-Bold"/>
                <a:ea typeface="Darker Grotesque Semi-Bold"/>
                <a:cs typeface="Darker Grotesque Semi-Bold"/>
                <a:sym typeface="Darker Grotesque Semi-Bold"/>
              </a:rPr>
              <a:t>Bileşen tabanlı React mimarisi ile modüler ve yeniden kullanılabilir arayüz tasarımı.</a:t>
            </a:r>
          </a:p>
        </p:txBody>
      </p:sp>
      <p:sp>
        <p:nvSpPr>
          <p:cNvPr id="51" name="TextBox 51"/>
          <p:cNvSpPr txBox="1"/>
          <p:nvPr/>
        </p:nvSpPr>
        <p:spPr>
          <a:xfrm>
            <a:off x="5829055" y="8301690"/>
            <a:ext cx="3442591" cy="1080135"/>
          </a:xfrm>
          <a:prstGeom prst="rect">
            <a:avLst/>
          </a:prstGeom>
        </p:spPr>
        <p:txBody>
          <a:bodyPr lIns="0" tIns="0" rIns="0" bIns="0" rtlCol="0" anchor="t">
            <a:spAutoFit/>
          </a:bodyPr>
          <a:lstStyle/>
          <a:p>
            <a:pPr algn="l">
              <a:lnSpc>
                <a:spcPts val="2834"/>
              </a:lnSpc>
            </a:pPr>
            <a:r>
              <a:rPr lang="en-US" sz="2699" b="1">
                <a:solidFill>
                  <a:srgbClr val="093337"/>
                </a:solidFill>
                <a:latin typeface="Darker Grotesque Semi-Bold"/>
                <a:ea typeface="Darker Grotesque Semi-Bold"/>
                <a:cs typeface="Darker Grotesque Semi-Bold"/>
                <a:sym typeface="Darker Grotesque Semi-Bold"/>
              </a:rPr>
              <a:t>Express REST API üzerinden SQLite veritabanında kullanıcı, işlem ve hedef verilerinin saklanması.</a:t>
            </a:r>
          </a:p>
        </p:txBody>
      </p:sp>
      <p:sp>
        <p:nvSpPr>
          <p:cNvPr id="52" name="TextBox 52"/>
          <p:cNvSpPr txBox="1"/>
          <p:nvPr/>
        </p:nvSpPr>
        <p:spPr>
          <a:xfrm>
            <a:off x="9619968" y="8301690"/>
            <a:ext cx="3480086" cy="1080135"/>
          </a:xfrm>
          <a:prstGeom prst="rect">
            <a:avLst/>
          </a:prstGeom>
        </p:spPr>
        <p:txBody>
          <a:bodyPr lIns="0" tIns="0" rIns="0" bIns="0" rtlCol="0" anchor="t">
            <a:spAutoFit/>
          </a:bodyPr>
          <a:lstStyle/>
          <a:p>
            <a:pPr algn="l">
              <a:lnSpc>
                <a:spcPts val="2834"/>
              </a:lnSpc>
            </a:pPr>
            <a:r>
              <a:rPr lang="en-US" sz="2699" b="1">
                <a:solidFill>
                  <a:srgbClr val="093337"/>
                </a:solidFill>
                <a:latin typeface="Darker Grotesque Semi-Bold"/>
                <a:ea typeface="Darker Grotesque Semi-Bold"/>
                <a:cs typeface="Darker Grotesque Semi-Bold"/>
                <a:sym typeface="Darker Grotesque Semi-Bold"/>
              </a:rPr>
              <a:t>JWT kimlik doğrulama, bcrypt şifreleme ve canlı piyasa API’leriyle kripto/hisse/altın entegrasyonu.</a:t>
            </a:r>
          </a:p>
        </p:txBody>
      </p:sp>
      <p:sp>
        <p:nvSpPr>
          <p:cNvPr id="53" name="TextBox 53"/>
          <p:cNvSpPr txBox="1"/>
          <p:nvPr/>
        </p:nvSpPr>
        <p:spPr>
          <a:xfrm>
            <a:off x="2019946" y="7886400"/>
            <a:ext cx="3213679" cy="386715"/>
          </a:xfrm>
          <a:prstGeom prst="rect">
            <a:avLst/>
          </a:prstGeom>
        </p:spPr>
        <p:txBody>
          <a:bodyPr lIns="0" tIns="0" rIns="0" bIns="0" rtlCol="0" anchor="t">
            <a:spAutoFit/>
          </a:bodyPr>
          <a:lstStyle/>
          <a:p>
            <a:pPr algn="l">
              <a:lnSpc>
                <a:spcPts val="2939"/>
              </a:lnSpc>
            </a:pPr>
            <a:r>
              <a:rPr lang="en-US" sz="2799" b="1">
                <a:solidFill>
                  <a:srgbClr val="093337"/>
                </a:solidFill>
                <a:latin typeface="Darker Grotesque Heavy"/>
                <a:ea typeface="Darker Grotesque Heavy"/>
                <a:cs typeface="Darker Grotesque Heavy"/>
                <a:sym typeface="Darker Grotesque Heavy"/>
              </a:rPr>
              <a:t>Geliştirme Yaklaşımı :</a:t>
            </a:r>
          </a:p>
        </p:txBody>
      </p:sp>
      <p:sp>
        <p:nvSpPr>
          <p:cNvPr id="54" name="TextBox 54"/>
          <p:cNvSpPr txBox="1"/>
          <p:nvPr/>
        </p:nvSpPr>
        <p:spPr>
          <a:xfrm>
            <a:off x="5829055" y="7886400"/>
            <a:ext cx="3213679" cy="386715"/>
          </a:xfrm>
          <a:prstGeom prst="rect">
            <a:avLst/>
          </a:prstGeom>
        </p:spPr>
        <p:txBody>
          <a:bodyPr lIns="0" tIns="0" rIns="0" bIns="0" rtlCol="0" anchor="t">
            <a:spAutoFit/>
          </a:bodyPr>
          <a:lstStyle/>
          <a:p>
            <a:pPr algn="l">
              <a:lnSpc>
                <a:spcPts val="2939"/>
              </a:lnSpc>
            </a:pPr>
            <a:r>
              <a:rPr lang="en-US" sz="2799" b="1">
                <a:solidFill>
                  <a:srgbClr val="093337"/>
                </a:solidFill>
                <a:latin typeface="Darker Grotesque Heavy"/>
                <a:ea typeface="Darker Grotesque Heavy"/>
                <a:cs typeface="Darker Grotesque Heavy"/>
                <a:sym typeface="Darker Grotesque Heavy"/>
              </a:rPr>
              <a:t>Veri Yönetimi :</a:t>
            </a:r>
          </a:p>
        </p:txBody>
      </p:sp>
      <p:sp>
        <p:nvSpPr>
          <p:cNvPr id="55" name="TextBox 55"/>
          <p:cNvSpPr txBox="1"/>
          <p:nvPr/>
        </p:nvSpPr>
        <p:spPr>
          <a:xfrm>
            <a:off x="9619968" y="7886400"/>
            <a:ext cx="3213679" cy="386715"/>
          </a:xfrm>
          <a:prstGeom prst="rect">
            <a:avLst/>
          </a:prstGeom>
        </p:spPr>
        <p:txBody>
          <a:bodyPr lIns="0" tIns="0" rIns="0" bIns="0" rtlCol="0" anchor="t">
            <a:spAutoFit/>
          </a:bodyPr>
          <a:lstStyle/>
          <a:p>
            <a:pPr algn="l">
              <a:lnSpc>
                <a:spcPts val="2939"/>
              </a:lnSpc>
            </a:pPr>
            <a:r>
              <a:rPr lang="en-US" sz="2799" b="1">
                <a:solidFill>
                  <a:srgbClr val="093337"/>
                </a:solidFill>
                <a:latin typeface="Darker Grotesque Heavy"/>
                <a:ea typeface="Darker Grotesque Heavy"/>
                <a:cs typeface="Darker Grotesque Heavy"/>
                <a:sym typeface="Darker Grotesque Heavy"/>
              </a:rPr>
              <a:t>Güvenlik &amp; Entegrasyon :</a:t>
            </a:r>
          </a:p>
        </p:txBody>
      </p:sp>
      <p:pic>
        <p:nvPicPr>
          <p:cNvPr id="56" name="Picture 55" descr="birikim_grafik.png"/>
          <p:cNvPicPr>
            <a:picLocks noChangeAspect="1"/>
          </p:cNvPicPr>
          <p:nvPr/>
        </p:nvPicPr>
        <p:blipFill>
          <a:blip r:embed="rId6"/>
          <a:stretch>
            <a:fillRect/>
          </a:stretch>
        </p:blipFill>
        <p:spPr>
          <a:xfrm>
            <a:off x="761258" y="15060190"/>
            <a:ext cx="13597484" cy="66915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172</Words>
  <Application>Microsoft Office PowerPoint</Application>
  <PresentationFormat>Özel</PresentationFormat>
  <Paragraphs>21</Paragraphs>
  <Slides>1</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1</vt:i4>
      </vt:variant>
    </vt:vector>
  </HeadingPairs>
  <TitlesOfParts>
    <vt:vector size="9" baseType="lpstr">
      <vt:lpstr>Darker Grotesque Ultra-Bold</vt:lpstr>
      <vt:lpstr>Arial</vt:lpstr>
      <vt:lpstr>Darker Grotesque Heavy</vt:lpstr>
      <vt:lpstr>Code Pro Bold</vt:lpstr>
      <vt:lpstr>Darker Grotesque Semi-Bold</vt:lpstr>
      <vt:lpstr>Calibri</vt:lpstr>
      <vt:lpstr>Darker Grotesque Medium</vt:lpstr>
      <vt:lpstr>Office Theme</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Beige Modern Professional Academic Research Poster</dc:title>
  <cp:lastModifiedBy>Hacer Kubra Sevinc</cp:lastModifiedBy>
  <cp:revision>2</cp:revision>
  <dcterms:created xsi:type="dcterms:W3CDTF">2006-08-16T00:00:00Z</dcterms:created>
  <dcterms:modified xsi:type="dcterms:W3CDTF">2026-05-22T17:22:19Z</dcterms:modified>
  <dc:identifier>DAHKaWVJEtg</dc:identifier>
</cp:coreProperties>
</file>